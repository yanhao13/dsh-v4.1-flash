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2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  <Relationship Id="rId23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## [Group 7] DEEPSEEK-AI / TECHNICAL REPORT</a:t>
            </a:r>
            <a:endParaRPr lang="en-US" dirty="0"/>
          </a:p>
          <a:p>
            <a:r>
              <a:rPr lang="en-US" dirty="0"/>
              <a:t>DeepSeek V4.1 Flash asks how far we can compress the memory of a long-running agent without giving up its capabilities. The headline is eight hundred</a:t>
            </a:r>
            <a:endParaRPr lang="en-US" dirty="0"/>
          </a:p>
          <a:p>
            <a:endParaRPr lang="en-US" dirty="0"/>
          </a:p>
          <a:p>
            <a:r>
              <a:rPr lang="en-US" dirty="0"/>
              <a:t>## [Group 12] 890</a:t>
            </a:r>
            <a:endParaRPr lang="en-US" dirty="0"/>
          </a:p>
          <a:p>
            <a:r>
              <a:rPr lang="en-US" dirty="0"/>
              <a:t>ninety bytes of global key-value cache per token, with support for one million context tokens. In this walkthrough, we will separate the architecture changes</a:t>
            </a:r>
            <a:endParaRPr lang="en-US" dirty="0"/>
          </a:p>
          <a:p>
            <a:endParaRPr lang="en-US" dirty="0"/>
          </a:p>
          <a:p>
            <a:r>
              <a:rPr lang="en-US" dirty="0"/>
              <a:t>## [Group 17] 1M-token context.</a:t>
            </a:r>
            <a:endParaRPr lang="en-US" dirty="0"/>
          </a:p>
          <a:p>
            <a:r>
              <a:rPr lang="en-US" dirty="0"/>
              <a:t>from the serving changes, then examine the evidence and its limits. The key idea is to share global context and reconstruct short-lived local state.</a:t>
            </a:r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## [Group 4] 01 / THE SERVING PROBLEM</a:t>
            </a:r>
            <a:endParaRPr lang="en-US" dirty="0"/>
          </a:p>
          <a:p>
            <a:r>
              <a:rPr lang="en-US" dirty="0"/>
              <a:t>Long-horizon agents repeatedly consume tool outputs and revisit large prefixes. That creates three related costs.</a:t>
            </a:r>
            <a:endParaRPr lang="en-US" dirty="0"/>
          </a:p>
          <a:p>
            <a:endParaRPr lang="en-US" dirty="0"/>
          </a:p>
          <a:p>
            <a:r>
              <a:rPr lang="en-US" dirty="0"/>
              <a:t>## [Group 21] Compute</a:t>
            </a:r>
            <a:endParaRPr lang="en-US" dirty="0"/>
          </a:p>
          <a:p>
            <a:r>
              <a:rPr lang="en-US" dirty="0"/>
              <a:t>First, prefill must process the input. Second, global key-value state occupies accelerator memory. Third, cached</a:t>
            </a:r>
            <a:endParaRPr lang="en-US" dirty="0"/>
          </a:p>
          <a:p>
            <a:endParaRPr lang="en-US" dirty="0"/>
          </a:p>
          <a:p>
            <a:r>
              <a:rPr lang="en-US" dirty="0"/>
              <a:t>## [Group 31] Keep</a:t>
            </a:r>
            <a:endParaRPr lang="en-US" dirty="0"/>
          </a:p>
          <a:p>
            <a:r>
              <a:rPr lang="en-US" dirty="0"/>
              <a:t>prefixes must be stored and transferred through host memory or storage. Sparse attention mainly attacks</a:t>
            </a:r>
            <a:endParaRPr lang="en-US" dirty="0"/>
          </a:p>
          <a:p>
            <a:endParaRPr lang="en-US" dirty="0"/>
          </a:p>
          <a:p>
            <a:r>
              <a:rPr lang="en-US" dirty="0"/>
              <a:t>## [Group 40] Move</a:t>
            </a:r>
            <a:endParaRPr lang="en-US" dirty="0"/>
          </a:p>
          <a:p>
            <a:r>
              <a:rPr lang="en-US" dirty="0"/>
              <a:t>computation. It does not automatically eliminate the memory or transfer bill. This report treats those</a:t>
            </a:r>
            <a:endParaRPr lang="en-US" dirty="0"/>
          </a:p>
          <a:p>
            <a:endParaRPr lang="en-US" dirty="0"/>
          </a:p>
          <a:p>
            <a:r>
              <a:rPr lang="en-US" dirty="0"/>
              <a:t>## [Group 42] Sparse attention reduces compute.</a:t>
            </a:r>
            <a:endParaRPr lang="en-US" dirty="0"/>
          </a:p>
          <a:p>
            <a:r>
              <a:rPr lang="en-US" dirty="0"/>
              <a:t>costs together, which is why several model and serving changes appear in the same design.</a:t>
            </a:r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## [Group 5] 02 / THE CORE DISTINCTION</a:t>
            </a:r>
            <a:endParaRPr lang="en-US" dirty="0"/>
          </a:p>
          <a:p>
            <a:r>
              <a:rPr lang="en-US" dirty="0"/>
              <a:t>The useful distinction is between global context and local state. A global cache carries information from a long history,</a:t>
            </a:r>
            <a:endParaRPr lang="en-US" dirty="0"/>
          </a:p>
          <a:p>
            <a:endParaRPr lang="en-US" dirty="0"/>
          </a:p>
          <a:p>
            <a:r>
              <a:rPr lang="en-US" dirty="0"/>
              <a:t>## [Group 11] GLOBAL CONTEXT</a:t>
            </a:r>
            <a:endParaRPr lang="en-US" dirty="0"/>
          </a:p>
          <a:p>
            <a:r>
              <a:rPr lang="en-US" dirty="0"/>
              <a:t>so reducing repeated copies and lowering precision have large benefits. Sliding-window attention has a short local horizon, making reconstruction</a:t>
            </a:r>
            <a:endParaRPr lang="en-US" dirty="0"/>
          </a:p>
          <a:p>
            <a:endParaRPr lang="en-US" dirty="0"/>
          </a:p>
          <a:p>
            <a:r>
              <a:rPr lang="en-US" dirty="0"/>
              <a:t>## [Group 16] LOCAL STATE</a:t>
            </a:r>
            <a:endParaRPr lang="en-US" dirty="0"/>
          </a:p>
          <a:p>
            <a:r>
              <a:rPr lang="en-US" dirty="0"/>
              <a:t>a plausible alternative to persistent storage. Exact reconstruction can still require replay across the layered receptive field. Bounded</a:t>
            </a:r>
            <a:endParaRPr lang="en-US" dirty="0"/>
          </a:p>
          <a:p>
            <a:endParaRPr lang="en-US" dirty="0"/>
          </a:p>
          <a:p>
            <a:r>
              <a:rPr lang="en-US" dirty="0"/>
              <a:t>## [Group 19] State lifetime determines the serving policy.</a:t>
            </a:r>
            <a:endParaRPr lang="en-US" dirty="0"/>
          </a:p>
          <a:p>
            <a:r>
              <a:rPr lang="en-US" dirty="0"/>
              <a:t>replay deliberately uses a shorter recent segment. Keep that approximation in mind as we work through the architecture.</a:t>
            </a:r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## [Group 4] 03 / THE CONTRIBUTION</a:t>
            </a:r>
            <a:endParaRPr lang="en-US" dirty="0"/>
          </a:p>
          <a:p>
            <a:r>
              <a:rPr lang="en-US" dirty="0"/>
              <a:t>The model has five hundred fifty-two billion backbone parameters and forty Transformer layers, split evenly between encoder and decoder.</a:t>
            </a:r>
            <a:endParaRPr lang="en-US" dirty="0"/>
          </a:p>
          <a:p>
            <a:endParaRPr lang="en-US" dirty="0"/>
          </a:p>
          <a:p>
            <a:r>
              <a:rPr lang="en-US" dirty="0"/>
              <a:t>## [Group 7] 552B</a:t>
            </a:r>
            <a:endParaRPr lang="en-US" dirty="0"/>
          </a:p>
          <a:p>
            <a:r>
              <a:rPr lang="en-US" dirty="0"/>
              <a:t>Its core efficiency mechanisms are the causal encoder-decoder, Compressed Sparse Attention Two, hierarchical indexing, four-bit main caching, and bounded</a:t>
            </a:r>
            <a:endParaRPr lang="en-US" dirty="0"/>
          </a:p>
          <a:p>
            <a:endParaRPr lang="en-US" dirty="0"/>
          </a:p>
          <a:p>
            <a:r>
              <a:rPr lang="en-US" dirty="0"/>
              <a:t>## [Group 13] 20 + 20 layers</a:t>
            </a:r>
            <a:endParaRPr lang="en-US" dirty="0"/>
          </a:p>
          <a:p>
            <a:r>
              <a:rPr lang="en-US" dirty="0"/>
              <a:t>replay. The architecture figure also includes Single-Pass mHC, Engram conditional memory, and the DSpark speculative decoder. We will</a:t>
            </a:r>
            <a:endParaRPr lang="en-US" dirty="0"/>
          </a:p>
          <a:p>
            <a:endParaRPr lang="en-US" dirty="0"/>
          </a:p>
          <a:p>
            <a:r>
              <a:rPr lang="en-US" dirty="0"/>
              <a:t>## [Group 15] Group 15</a:t>
            </a:r>
            <a:endParaRPr lang="en-US" dirty="0"/>
          </a:p>
          <a:p>
            <a:r>
              <a:rPr lang="en-US" dirty="0"/>
              <a:t>concentrate on the mechanisms that change long-context compute and cache behavior, while treating the remaining components as context.</a:t>
            </a:r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## [Group 4] 04 / CAUSAL ENCODER–DECODER</a:t>
            </a:r>
            <a:endParaRPr lang="en-US" dirty="0"/>
          </a:p>
          <a:p>
            <a:r>
              <a:rPr lang="en-US" dirty="0"/>
              <a:t>Start with the causal encoder-decoder. In an ordinary decoder stack, producing a later layer’s</a:t>
            </a:r>
            <a:endParaRPr lang="en-US" dirty="0"/>
          </a:p>
          <a:p>
            <a:endParaRPr lang="en-US" dirty="0"/>
          </a:p>
          <a:p>
            <a:r>
              <a:rPr lang="en-US" dirty="0"/>
              <a:t>## [Group 8] Encoder output</a:t>
            </a:r>
            <a:endParaRPr lang="en-US" dirty="0"/>
          </a:p>
          <a:p>
            <a:r>
              <a:rPr lang="en-US" dirty="0"/>
              <a:t>cache requires running the prefix through earlier layers. Here, the decoder’s global keys</a:t>
            </a:r>
            <a:endParaRPr lang="en-US" dirty="0"/>
          </a:p>
          <a:p>
            <a:endParaRPr lang="en-US" dirty="0"/>
          </a:p>
          <a:p>
            <a:r>
              <a:rPr lang="en-US" dirty="0"/>
              <a:t>## [Group 11] Project</a:t>
            </a:r>
            <a:endParaRPr lang="en-US" dirty="0"/>
          </a:p>
          <a:p>
            <a:r>
              <a:rPr lang="en-US" dirty="0"/>
              <a:t>and values are projected directly from the final encoder hidden states. The equation</a:t>
            </a:r>
            <a:endParaRPr lang="en-US" dirty="0"/>
          </a:p>
          <a:p>
            <a:endParaRPr lang="en-US" dirty="0"/>
          </a:p>
          <a:p>
            <a:r>
              <a:rPr lang="en-US" dirty="0"/>
              <a:t>## [Group 15] Decoder global KV</a:t>
            </a:r>
            <a:endParaRPr lang="en-US" dirty="0"/>
          </a:p>
          <a:p>
            <a:r>
              <a:rPr lang="en-US" dirty="0"/>
              <a:t>expresses that dependency: each decoder layer’s global cache is a learned projection of</a:t>
            </a:r>
            <a:endParaRPr lang="en-US" dirty="0"/>
          </a:p>
          <a:p>
            <a:endParaRPr lang="en-US" dirty="0"/>
          </a:p>
          <a:p>
            <a:r>
              <a:rPr lang="en-US" dirty="0"/>
              <a:t>## [Group 17] Group 17</a:t>
            </a:r>
            <a:endParaRPr lang="en-US" dirty="0"/>
          </a:p>
          <a:p>
            <a:r>
              <a:rPr lang="en-US" dirty="0"/>
              <a:t>the encoder output. This changes what long-prefix prefill must compute. It does not</a:t>
            </a:r>
            <a:endParaRPr lang="en-US" dirty="0"/>
          </a:p>
          <a:p>
            <a:endParaRPr lang="en-US" dirty="0"/>
          </a:p>
          <a:p>
            <a:r>
              <a:rPr lang="en-US" dirty="0"/>
              <a:t>## [Group 20] Each layer still has</a:t>
            </a:r>
            <a:endParaRPr lang="en-US" dirty="0"/>
          </a:p>
          <a:p>
            <a:r>
              <a:rPr lang="en-US" dirty="0"/>
              <a:t>remove the decoder, and each layer still maintains its own local sliding-window state.</a:t>
            </a:r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## [Group 4] 05 / WHY INPUT-HEAVY WORKLOADS BENEFIT</a:t>
            </a:r>
            <a:endParaRPr lang="en-US" dirty="0"/>
          </a:p>
          <a:p>
            <a:r>
              <a:rPr lang="en-US" dirty="0"/>
              <a:t>The consequence is asymmetric work. Prefill activates eight billion parameters per token, while decoding activates sixteen billion. For a long</a:t>
            </a:r>
            <a:endParaRPr lang="en-US" dirty="0"/>
          </a:p>
          <a:p>
            <a:endParaRPr lang="en-US" dirty="0"/>
          </a:p>
          <a:p>
            <a:r>
              <a:rPr lang="en-US" dirty="0"/>
              <a:t>## [Group 9] PREFILL</a:t>
            </a:r>
            <a:endParaRPr lang="en-US" dirty="0"/>
          </a:p>
          <a:p>
            <a:r>
              <a:rPr lang="en-US" dirty="0"/>
              <a:t>input, most full-prefix processing stops at the encoder, with only short local-state work needed in the decoder. The report</a:t>
            </a:r>
            <a:endParaRPr lang="en-US" dirty="0"/>
          </a:p>
          <a:p>
            <a:endParaRPr lang="en-US" dirty="0"/>
          </a:p>
          <a:p>
            <a:r>
              <a:rPr lang="en-US" dirty="0"/>
              <a:t>## [Group 14] DECODE</a:t>
            </a:r>
            <a:endParaRPr lang="en-US" dirty="0"/>
          </a:p>
          <a:p>
            <a:r>
              <a:rPr lang="en-US" dirty="0"/>
              <a:t>approximates prefill complexity by the encoder half when sequence length is much larger than the local window. This is</a:t>
            </a:r>
            <a:endParaRPr lang="en-US" dirty="0"/>
          </a:p>
          <a:p>
            <a:endParaRPr lang="en-US" dirty="0"/>
          </a:p>
          <a:p>
            <a:r>
              <a:rPr lang="en-US" dirty="0"/>
              <a:t>## [Group 17] Long-prefix work largely stops at the encoder.</a:t>
            </a:r>
            <a:endParaRPr lang="en-US" dirty="0"/>
          </a:p>
          <a:p>
            <a:r>
              <a:rPr lang="en-US" dirty="0"/>
              <a:t>especially relevant to input-heavy agents. Activated-parameter counts describe computational structure; they are not a direct measurement of end-to-end latency.</a:t>
            </a:r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## [Group 4] 06 / COMPRESSED SPARSE ATTENTION 2</a:t>
            </a:r>
            <a:endParaRPr lang="en-US" dirty="0"/>
          </a:p>
          <a:p>
            <a:r>
              <a:rPr lang="en-US" dirty="0"/>
              <a:t>Compressed Sparse Attention Two has three modes. Full computes the main key-value cache, indexer keys, and selected</a:t>
            </a:r>
            <a:endParaRPr lang="en-US" dirty="0"/>
          </a:p>
          <a:p>
            <a:endParaRPr lang="en-US" dirty="0"/>
          </a:p>
          <a:p>
            <a:r>
              <a:rPr lang="en-US" dirty="0"/>
              <a:t>## [Group 10] Full</a:t>
            </a:r>
            <a:endParaRPr lang="en-US" dirty="0"/>
          </a:p>
          <a:p>
            <a:r>
              <a:rPr lang="en-US" dirty="0"/>
              <a:t>indices. Reindex reuses the cache and indexer keys from the most recent Full layer, but selects</a:t>
            </a:r>
            <a:endParaRPr lang="en-US" dirty="0"/>
          </a:p>
          <a:p>
            <a:endParaRPr lang="en-US" dirty="0"/>
          </a:p>
          <a:p>
            <a:r>
              <a:rPr lang="en-US" dirty="0"/>
              <a:t>## [Group 16] Reindex</a:t>
            </a:r>
            <a:endParaRPr lang="en-US" dirty="0"/>
          </a:p>
          <a:p>
            <a:r>
              <a:rPr lang="en-US" dirty="0"/>
              <a:t>fresh indices. Reuse also shares the selected Top-K set from the most recent index-producing layer. These</a:t>
            </a:r>
            <a:endParaRPr lang="en-US" dirty="0"/>
          </a:p>
          <a:p>
            <a:endParaRPr lang="en-US" dirty="0"/>
          </a:p>
          <a:p>
            <a:r>
              <a:rPr lang="en-US" dirty="0"/>
              <a:t>## [Group 22] Reuse</a:t>
            </a:r>
            <a:endParaRPr lang="en-US" dirty="0"/>
          </a:p>
          <a:p>
            <a:r>
              <a:rPr lang="en-US" dirty="0"/>
              <a:t>are distinct savings: one avoids storing or producing another cache, and the other avoids another selection</a:t>
            </a:r>
            <a:endParaRPr lang="en-US" dirty="0"/>
          </a:p>
          <a:p>
            <a:endParaRPr lang="en-US" dirty="0"/>
          </a:p>
          <a:p>
            <a:r>
              <a:rPr lang="en-US" dirty="0"/>
              <a:t>## [Group 29] Every mode computes current-layer Q and SWA KV.</a:t>
            </a:r>
            <a:endParaRPr lang="en-US" dirty="0"/>
          </a:p>
          <a:p>
            <a:r>
              <a:rPr lang="en-US" dirty="0"/>
              <a:t>pass. All three modes still compute the current layer’s main query and sliding-window keys and values.</a:t>
            </a:r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## [Group 4] 07 / HIERARCHICAL SPARSE INDEXER</a:t>
            </a:r>
            <a:endParaRPr lang="en-US" dirty="0"/>
          </a:p>
          <a:p>
            <a:r>
              <a:rPr lang="en-US" dirty="0"/>
              <a:t>Cache reuse does not by itself make indexing independent of context length.</a:t>
            </a:r>
            <a:endParaRPr lang="en-US" dirty="0"/>
          </a:p>
          <a:p>
            <a:endParaRPr lang="en-US" dirty="0"/>
          </a:p>
          <a:p>
            <a:r>
              <a:rPr lang="en-US" dirty="0"/>
              <a:t>## [Group 9] FIRST FULL LAYER</a:t>
            </a:r>
            <a:endParaRPr lang="en-US" dirty="0"/>
          </a:p>
          <a:p>
            <a:r>
              <a:rPr lang="en-US" dirty="0"/>
              <a:t>The hierarchical indexer narrows the work of later decoder layers. The first</a:t>
            </a:r>
            <a:endParaRPr lang="en-US" dirty="0"/>
          </a:p>
          <a:p>
            <a:endParaRPr lang="en-US" dirty="0"/>
          </a:p>
          <a:p>
            <a:r>
              <a:rPr lang="en-US" dirty="0"/>
              <a:t>## [Freeform 10] Freeform 10</a:t>
            </a:r>
            <a:endParaRPr lang="en-US" dirty="0"/>
          </a:p>
          <a:p>
            <a:r>
              <a:rPr lang="en-US" dirty="0"/>
              <a:t>Full decoder layer scans the context and ranks blocks using their maximum</a:t>
            </a:r>
            <a:endParaRPr lang="en-US" dirty="0"/>
          </a:p>
          <a:p>
            <a:endParaRPr lang="en-US" dirty="0"/>
          </a:p>
          <a:p>
            <a:r>
              <a:rPr lang="en-US" dirty="0"/>
              <a:t>## [Group 16] UP TO</a:t>
            </a:r>
            <a:endParaRPr lang="en-US" dirty="0"/>
          </a:p>
          <a:p>
            <a:r>
              <a:rPr lang="en-US" dirty="0"/>
              <a:t>index score. Up to two thousand forty-eight blocks, with eight positions each,</a:t>
            </a:r>
            <a:endParaRPr lang="en-US" dirty="0"/>
          </a:p>
          <a:p>
            <a:endParaRPr lang="en-US" dirty="0"/>
          </a:p>
          <a:p>
            <a:r>
              <a:rPr lang="en-US" dirty="0"/>
              <a:t>## [Freeform 17] Freeform 17</a:t>
            </a:r>
            <a:endParaRPr lang="en-US" dirty="0"/>
          </a:p>
          <a:p>
            <a:r>
              <a:rPr lang="en-US" dirty="0"/>
              <a:t>create a pool of sixteen thousand three hundred eighty-four candidates. Later Reindex</a:t>
            </a:r>
            <a:endParaRPr lang="en-US" dirty="0"/>
          </a:p>
          <a:p>
            <a:endParaRPr lang="en-US" dirty="0"/>
          </a:p>
          <a:p>
            <a:r>
              <a:rPr lang="en-US" dirty="0"/>
              <a:t>## [Group 21] REINDEX</a:t>
            </a:r>
            <a:endParaRPr lang="en-US" dirty="0"/>
          </a:p>
          <a:p>
            <a:r>
              <a:rPr lang="en-US" dirty="0"/>
              <a:t>layers select five hundred twelve entries from that pool. Training uses the</a:t>
            </a:r>
            <a:endParaRPr lang="en-US" dirty="0"/>
          </a:p>
          <a:p>
            <a:endParaRPr lang="en-US" dirty="0"/>
          </a:p>
          <a:p>
            <a:r>
              <a:rPr lang="en-US" dirty="0"/>
              <a:t>## [Group 25] The first scan still sees the full context.</a:t>
            </a:r>
            <a:endParaRPr lang="en-US" dirty="0"/>
          </a:p>
          <a:p>
            <a:r>
              <a:rPr lang="en-US" dirty="0"/>
              <a:t>same restriction. The first scan still depends on full context length.</a:t>
            </a:r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## [Group 4] 08 / SELECTIVE CACHE PRECISION</a:t>
            </a:r>
            <a:endParaRPr lang="en-US" dirty="0"/>
          </a:p>
          <a:p>
            <a:r>
              <a:rPr lang="en-US" dirty="0"/>
              <a:t>The next saving comes from precision. Main cache values use the E2M1 four-bit format, with one E4M3 scale per sixteen</a:t>
            </a:r>
            <a:endParaRPr lang="en-US" dirty="0"/>
          </a:p>
          <a:p>
            <a:endParaRPr lang="en-US" dirty="0"/>
          </a:p>
          <a:p>
            <a:r>
              <a:rPr lang="en-US" dirty="0"/>
              <a:t>## [Group 10] MAIN KV CACHE</a:t>
            </a:r>
            <a:endParaRPr lang="en-US" dirty="0"/>
          </a:p>
          <a:p>
            <a:r>
              <a:rPr lang="en-US" dirty="0"/>
              <a:t>channels. Values are quantized after rotary position encoding and dequantized before attention. Quantization-aware training is introduced during post-training to reduce</a:t>
            </a:r>
            <a:endParaRPr lang="en-US" dirty="0"/>
          </a:p>
          <a:p>
            <a:endParaRPr lang="en-US" dirty="0"/>
          </a:p>
          <a:p>
            <a:r>
              <a:rPr lang="en-US" dirty="0"/>
              <a:t>## [Group 16] SLIDING-WINDOW KV</a:t>
            </a:r>
            <a:endParaRPr lang="en-US" dirty="0"/>
          </a:p>
          <a:p>
            <a:r>
              <a:rPr lang="en-US" dirty="0"/>
              <a:t>the quality impact. The choice is selective: sliding-window keys and values stay in FP8 because that state is sensitive to</a:t>
            </a:r>
            <a:endParaRPr lang="en-US" dirty="0"/>
          </a:p>
          <a:p>
            <a:endParaRPr lang="en-US" dirty="0"/>
          </a:p>
          <a:p>
            <a:r>
              <a:rPr lang="en-US" dirty="0"/>
              <a:t>## [Group 19] Quantize</a:t>
            </a:r>
            <a:endParaRPr lang="en-US" dirty="0"/>
          </a:p>
          <a:p>
            <a:r>
              <a:rPr lang="en-US" dirty="0"/>
              <a:t>quantization. The lesson is to compress according to a component’s tolerance, rather than force one format onto every cache.</a:t>
            </a:r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## [Group 5] 09 / SWA BOUNDED REPLAY</a:t>
            </a:r>
            <a:endParaRPr lang="en-US" dirty="0"/>
          </a:p>
          <a:p>
            <a:r>
              <a:rPr lang="en-US" dirty="0"/>
              <a:t>Bounded replay targets persistent prefix storage. Instead of saving every layer’s sliding-window</a:t>
            </a:r>
            <a:endParaRPr lang="en-US" dirty="0"/>
          </a:p>
          <a:p>
            <a:endParaRPr lang="en-US" dirty="0"/>
          </a:p>
          <a:p>
            <a:r>
              <a:rPr lang="en-US" dirty="0"/>
              <a:t>## [Group 13] Global KV</a:t>
            </a:r>
            <a:endParaRPr lang="en-US" dirty="0"/>
          </a:p>
          <a:p>
            <a:r>
              <a:rPr lang="en-US" dirty="0"/>
              <a:t>state, the system persists global key-value information and reconstructs local state</a:t>
            </a:r>
            <a:endParaRPr lang="en-US" dirty="0"/>
          </a:p>
          <a:p>
            <a:endParaRPr lang="en-US" dirty="0"/>
          </a:p>
          <a:p>
            <a:r>
              <a:rPr lang="en-US" dirty="0"/>
              <a:t>## [Freeform 14] Freeform 14</a:t>
            </a:r>
            <a:endParaRPr lang="en-US" dirty="0"/>
          </a:p>
          <a:p>
            <a:r>
              <a:rPr lang="en-US" dirty="0"/>
              <a:t>from the most recent one hundred twenty-eight tokens. This is shorter</a:t>
            </a:r>
            <a:endParaRPr lang="en-US" dirty="0"/>
          </a:p>
          <a:p>
            <a:endParaRPr lang="en-US" dirty="0"/>
          </a:p>
          <a:p>
            <a:r>
              <a:rPr lang="en-US" dirty="0"/>
              <a:t>## [Group 19] REPLAY</a:t>
            </a:r>
            <a:endParaRPr lang="en-US" dirty="0"/>
          </a:p>
          <a:p>
            <a:r>
              <a:rPr lang="en-US" dirty="0"/>
              <a:t>than exact reconstruction of the layered receptive field, so it is</a:t>
            </a:r>
            <a:endParaRPr lang="en-US" dirty="0"/>
          </a:p>
          <a:p>
            <a:endParaRPr lang="en-US" dirty="0"/>
          </a:p>
          <a:p>
            <a:r>
              <a:rPr lang="en-US" dirty="0"/>
              <a:t>## [Freeform 20] Freeform 20</a:t>
            </a:r>
            <a:endParaRPr lang="en-US" dirty="0"/>
          </a:p>
          <a:p>
            <a:r>
              <a:rPr lang="en-US" dirty="0"/>
              <a:t>approximate. Its behavior also depends on where the cache hit occurs.</a:t>
            </a:r>
            <a:endParaRPr lang="en-US" dirty="0"/>
          </a:p>
          <a:p>
            <a:endParaRPr lang="en-US" dirty="0"/>
          </a:p>
          <a:p>
            <a:r>
              <a:rPr lang="en-US" dirty="0"/>
              <a:t>## [Group 27] Local SWA</a:t>
            </a:r>
            <a:endParaRPr lang="en-US" dirty="0"/>
          </a:p>
          <a:p>
            <a:r>
              <a:rPr lang="en-US" dirty="0"/>
              <a:t>The authors report negligible response-quality degradation. This mechanism helps explain why</a:t>
            </a:r>
            <a:endParaRPr lang="en-US" dirty="0"/>
          </a:p>
          <a:p>
            <a:endParaRPr lang="en-US" dirty="0"/>
          </a:p>
          <a:p>
            <a:r>
              <a:rPr lang="en-US" dirty="0"/>
              <a:t>## [Group 31] Approximate replay.</a:t>
            </a:r>
            <a:endParaRPr lang="en-US" dirty="0"/>
          </a:p>
          <a:p>
            <a:r>
              <a:rPr lang="en-US" dirty="0"/>
              <a:t>persistent-cache savings are larger than the reduction in global cache alone.</a:t>
            </a:r>
            <a:endParaRPr 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## [Group 4] 10 / BEFORE READING THE RESULTS</a:t>
            </a:r>
            <a:endParaRPr lang="en-US" dirty="0"/>
          </a:p>
          <a:p>
            <a:r>
              <a:rPr lang="en-US" dirty="0"/>
              <a:t>Before interpreting results, establish the settings. Pretraining uses forty-five trillion multimodal tokens. Context starts at</a:t>
            </a:r>
            <a:endParaRPr lang="en-US" dirty="0"/>
          </a:p>
          <a:p>
            <a:endParaRPr lang="en-US" dirty="0"/>
          </a:p>
          <a:p>
            <a:r>
              <a:rPr lang="en-US" dirty="0"/>
              <a:t>## [Group 10] 45T</a:t>
            </a:r>
            <a:endParaRPr lang="en-US" dirty="0"/>
          </a:p>
          <a:p>
            <a:r>
              <a:rPr lang="en-US" dirty="0"/>
              <a:t>sixty-four thousand and extends to one million at thirty-four trillion training tokens. The model then</a:t>
            </a:r>
            <a:endParaRPr lang="en-US" dirty="0"/>
          </a:p>
          <a:p>
            <a:endParaRPr lang="en-US" dirty="0"/>
          </a:p>
          <a:p>
            <a:r>
              <a:rPr lang="en-US" dirty="0"/>
              <a:t>## [Group 13] Context: 64K to 1M</a:t>
            </a:r>
            <a:endParaRPr lang="en-US" dirty="0"/>
          </a:p>
          <a:p>
            <a:r>
              <a:rPr lang="en-US" dirty="0"/>
              <a:t>receives supervised fine-tuning, reinforcement learning, and final on-policy distillation. The featured agent scores use maximum</a:t>
            </a:r>
            <a:endParaRPr lang="en-US" dirty="0"/>
          </a:p>
          <a:p>
            <a:endParaRPr lang="en-US" dirty="0"/>
          </a:p>
          <a:p>
            <a:r>
              <a:rPr lang="en-US" dirty="0"/>
              <a:t>## [Group 16] Featured results: Max reasoning effort</a:t>
            </a:r>
            <a:endParaRPr lang="en-US" dirty="0"/>
          </a:p>
          <a:p>
            <a:r>
              <a:rPr lang="en-US" dirty="0"/>
              <a:t>reasoning effort. DeepSWE uses mini-SWE, while Terminal Bench uses DeepSeek Harness Minimal with a</a:t>
            </a:r>
            <a:endParaRPr lang="en-US" dirty="0"/>
          </a:p>
          <a:p>
            <a:endParaRPr lang="en-US" dirty="0"/>
          </a:p>
          <a:p>
            <a:r>
              <a:rPr lang="en-US" dirty="0"/>
              <a:t>## [Group 21] DeepSWE v1.1: mini-SWE</a:t>
            </a:r>
            <a:endParaRPr lang="en-US" dirty="0"/>
          </a:p>
          <a:p>
            <a:r>
              <a:rPr lang="en-US" dirty="0"/>
              <a:t>one-million-token context. Harness and effort are part of the comparison, not incidental implementation details.</a:t>
            </a:r>
            <a:endParaRPr 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## [Group 4] 11 / CAPABILITY EVIDENCE</a:t>
            </a:r>
            <a:endParaRPr lang="en-US" dirty="0"/>
          </a:p>
          <a:p>
            <a:r>
              <a:rPr lang="en-US" dirty="0"/>
              <a:t>At maximum effort, DeepSWE version one point one improves from fifty-four point four to seventy-four point two percent resolved compared with</a:t>
            </a:r>
            <a:endParaRPr lang="en-US" dirty="0"/>
          </a:p>
          <a:p>
            <a:endParaRPr lang="en-US" dirty="0"/>
          </a:p>
          <a:p>
            <a:r>
              <a:rPr lang="en-US" dirty="0"/>
              <a:t>## [Group 11] DeepSWE v1.1 · Resolved</a:t>
            </a:r>
            <a:endParaRPr lang="en-US" dirty="0"/>
          </a:p>
          <a:p>
            <a:r>
              <a:rPr lang="en-US" dirty="0"/>
              <a:t>V4 Flash. Terminal Bench two point one improves from eighty-two point seven to ninety point six percent Pass at One. Those</a:t>
            </a:r>
            <a:endParaRPr lang="en-US" dirty="0"/>
          </a:p>
          <a:p>
            <a:endParaRPr lang="en-US" dirty="0"/>
          </a:p>
          <a:p>
            <a:r>
              <a:rPr lang="en-US" dirty="0"/>
              <a:t>## [Group 19] Terminal-Bench 2.1 · Pass@1</a:t>
            </a:r>
            <a:endParaRPr lang="en-US" dirty="0"/>
          </a:p>
          <a:p>
            <a:r>
              <a:rPr lang="en-US" dirty="0"/>
              <a:t>gains coexist with substantially smaller caches. They show that this complete trained model improves on the prior Flash model in</a:t>
            </a:r>
            <a:endParaRPr lang="en-US" dirty="0"/>
          </a:p>
          <a:p>
            <a:endParaRPr lang="en-US" dirty="0"/>
          </a:p>
          <a:p>
            <a:r>
              <a:rPr lang="en-US" dirty="0"/>
              <a:t>## [Group 21] Max effort, report-specific harnesses; complete-model comparison.</a:t>
            </a:r>
            <a:endParaRPr lang="en-US" dirty="0"/>
          </a:p>
          <a:p>
            <a:r>
              <a:rPr lang="en-US" dirty="0"/>
              <a:t>the reported setups. They do not isolate the causal contribution of cache compression from training, model changes, or evaluation scaffolds.</a:t>
            </a:r>
            <a:endParaRPr 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## [Group 5] 12 / LONG-CONTEXT COMPUTE SCALING</a:t>
            </a:r>
            <a:endParaRPr lang="en-US" dirty="0"/>
          </a:p>
          <a:p>
            <a:r>
              <a:rPr lang="en-US" dirty="0"/>
              <a:t>Figure Two examines single-token decode computation as context grows. Moving from four thousand to one million context tokens is a</a:t>
            </a:r>
            <a:endParaRPr lang="en-US" dirty="0"/>
          </a:p>
          <a:p>
            <a:endParaRPr lang="en-US" dirty="0"/>
          </a:p>
          <a:p>
            <a:r>
              <a:rPr lang="en-US" dirty="0"/>
              <a:t>## [Group 7] Group 7</a:t>
            </a:r>
            <a:endParaRPr lang="en-US" dirty="0"/>
          </a:p>
          <a:p>
            <a:r>
              <a:rPr lang="en-US" dirty="0"/>
              <a:t>two-hundred-fifty-six-fold increase in length, yet the report describes only about twenty-five percent more decode FLOPs. These are precision-weighted operations: BF16</a:t>
            </a:r>
            <a:endParaRPr lang="en-US" dirty="0"/>
          </a:p>
          <a:p>
            <a:endParaRPr lang="en-US" dirty="0"/>
          </a:p>
          <a:p>
            <a:r>
              <a:rPr lang="en-US" dirty="0"/>
              <a:t>## [Group 12] 4K TO 1M CONTEXT</a:t>
            </a:r>
            <a:endParaRPr lang="en-US" dirty="0"/>
          </a:p>
          <a:p>
            <a:r>
              <a:rPr lang="en-US" dirty="0"/>
              <a:t>counts as one, FP8 as one half, and FP4 as one quarter. The result supports favorable compute scaling. It should</a:t>
            </a:r>
            <a:endParaRPr lang="en-US" dirty="0"/>
          </a:p>
          <a:p>
            <a:endParaRPr lang="en-US" dirty="0"/>
          </a:p>
          <a:p>
            <a:r>
              <a:rPr lang="en-US" dirty="0"/>
              <a:t>## [Group 18] FLOP weights:</a:t>
            </a:r>
            <a:endParaRPr lang="en-US" dirty="0"/>
          </a:p>
          <a:p>
            <a:r>
              <a:rPr lang="en-US" dirty="0"/>
              <a:t>not be read as a latency benchmark, a throughput guarantee, or a measured reduction in the complete serving bill.</a:t>
            </a:r>
            <a:endParaRPr 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## [Group 5] 13 / COST–QUALITY CONTROL SWEEP</a:t>
            </a:r>
            <a:endParaRPr lang="en-US" dirty="0"/>
          </a:p>
          <a:p>
            <a:r>
              <a:rPr lang="en-US" dirty="0"/>
              <a:t>The reasoning-effort sweep exposes another deployment trade-off. Raising effort from twenty-five to one hundred increases DeepSWE</a:t>
            </a:r>
            <a:endParaRPr lang="en-US" dirty="0"/>
          </a:p>
          <a:p>
            <a:endParaRPr lang="en-US" dirty="0"/>
          </a:p>
          <a:p>
            <a:r>
              <a:rPr lang="en-US" dirty="0"/>
              <a:t>## [Group 9] REASONING EFFORT: 25 TO 100</a:t>
            </a:r>
            <a:endParaRPr lang="en-US" dirty="0"/>
          </a:p>
          <a:p>
            <a:r>
              <a:rPr lang="en-US" dirty="0"/>
              <a:t>from sixty-six to seventy-four point two percent, and Terminal Bench from eighty-two point four to ninety</a:t>
            </a:r>
            <a:endParaRPr lang="en-US" dirty="0"/>
          </a:p>
          <a:p>
            <a:endParaRPr lang="en-US" dirty="0"/>
          </a:p>
          <a:p>
            <a:r>
              <a:rPr lang="en-US" dirty="0"/>
              <a:t>## [Group 13] DeepSWE v1.1</a:t>
            </a:r>
            <a:endParaRPr lang="en-US" dirty="0"/>
          </a:p>
          <a:p>
            <a:r>
              <a:rPr lang="en-US" dirty="0"/>
              <a:t>point six percent. Output length grows by roughly two and a half times. The highest setting</a:t>
            </a:r>
            <a:endParaRPr lang="en-US" dirty="0"/>
          </a:p>
          <a:p>
            <a:endParaRPr lang="en-US" dirty="0"/>
          </a:p>
          <a:p>
            <a:r>
              <a:rPr lang="en-US" dirty="0"/>
              <a:t>## [Group 16] Terminal-Bench 2.1</a:t>
            </a:r>
            <a:endParaRPr lang="en-US" dirty="0"/>
          </a:p>
          <a:p>
            <a:r>
              <a:rPr lang="en-US" dirty="0"/>
              <a:t>gives diminishing gains. This is a useful control sweep, but not an isolated architectural ablation. The</a:t>
            </a:r>
            <a:endParaRPr lang="en-US" dirty="0"/>
          </a:p>
          <a:p>
            <a:endParaRPr lang="en-US" dirty="0"/>
          </a:p>
          <a:p>
            <a:r>
              <a:rPr lang="en-US" dirty="0"/>
              <a:t>## [Group 20] This sweep does not isolate the architecture’s contribution.</a:t>
            </a:r>
            <a:endParaRPr lang="en-US" dirty="0"/>
          </a:p>
          <a:p>
            <a:r>
              <a:rPr lang="en-US" dirty="0"/>
              <a:t>relevant architecture sections describe FP4 and replay degradation qualitatively rather than supplying a numerical component-attribution table.</a:t>
            </a:r>
            <a:endParaRPr 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## [Group 4] 14 / HEADLINE NUMBERS, CORRECT SCOPE</a:t>
            </a:r>
            <a:endParaRPr lang="en-US" dirty="0"/>
          </a:p>
          <a:p>
            <a:r>
              <a:rPr lang="en-US" dirty="0"/>
              <a:t>The headline numbers refer to different boundaries. Eight hundred ninety bytes per token</a:t>
            </a:r>
            <a:endParaRPr lang="en-US" dirty="0"/>
          </a:p>
          <a:p>
            <a:endParaRPr lang="en-US" dirty="0"/>
          </a:p>
          <a:p>
            <a:r>
              <a:rPr lang="en-US" dirty="0"/>
              <a:t>## [Group 8] 890</a:t>
            </a:r>
            <a:endParaRPr lang="en-US" dirty="0"/>
          </a:p>
          <a:p>
            <a:r>
              <a:rPr lang="en-US" dirty="0"/>
              <a:t>measures global key-value cache, not model weights, activations, or every piece of runtime</a:t>
            </a:r>
            <a:endParaRPr lang="en-US" dirty="0"/>
          </a:p>
          <a:p>
            <a:endParaRPr lang="en-US" dirty="0"/>
          </a:p>
          <a:p>
            <a:r>
              <a:rPr lang="en-US" dirty="0"/>
              <a:t>## [Freeform 9] Freeform 9</a:t>
            </a:r>
            <a:endParaRPr lang="en-US" dirty="0"/>
          </a:p>
          <a:p>
            <a:r>
              <a:rPr lang="en-US" dirty="0"/>
              <a:t>state. At the same sequence length, the report gives approximately four times smaller</a:t>
            </a:r>
            <a:endParaRPr lang="en-US" dirty="0"/>
          </a:p>
          <a:p>
            <a:endParaRPr lang="en-US" dirty="0"/>
          </a:p>
          <a:p>
            <a:r>
              <a:rPr lang="en-US" dirty="0"/>
              <a:t>## [Group 12] ~4× smaller</a:t>
            </a:r>
            <a:endParaRPr lang="en-US" dirty="0"/>
          </a:p>
          <a:p>
            <a:r>
              <a:rPr lang="en-US" dirty="0"/>
              <a:t>global cache and eight times smaller persistent cache than V4 Flash. The persistent</a:t>
            </a:r>
            <a:endParaRPr lang="en-US" dirty="0"/>
          </a:p>
          <a:p>
            <a:endParaRPr lang="en-US" dirty="0"/>
          </a:p>
          <a:p>
            <a:r>
              <a:rPr lang="en-US" dirty="0"/>
              <a:t>## [Group 15] ~8× smaller</a:t>
            </a:r>
            <a:endParaRPr lang="en-US" dirty="0"/>
          </a:p>
          <a:p>
            <a:r>
              <a:rPr lang="en-US" dirty="0"/>
              <a:t>result additionally benefits from omitting sliding-window state. When estimating capacity, begin with the</a:t>
            </a:r>
            <a:endParaRPr lang="en-US" dirty="0"/>
          </a:p>
          <a:p>
            <a:endParaRPr lang="en-US" dirty="0"/>
          </a:p>
          <a:p>
            <a:r>
              <a:rPr lang="en-US" dirty="0"/>
              <a:t>## [Group 18] 890 bytes excludes weights, activations, and other runtime state.</a:t>
            </a:r>
            <a:endParaRPr lang="en-US" dirty="0"/>
          </a:p>
          <a:p>
            <a:r>
              <a:rPr lang="en-US" dirty="0"/>
              <a:t>right denominator and add the memory categories that this global-cache statistic excludes.</a:t>
            </a:r>
            <a:endParaRPr 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## [Group 5] Share the history.</a:t>
            </a:r>
            <a:endParaRPr lang="en-US" dirty="0"/>
          </a:p>
          <a:p>
            <a:r>
              <a:rPr lang="en-US" dirty="0"/>
              <a:t>The reusable engineering principle is to share expensive global history and rebuild cheap local state. The model</a:t>
            </a:r>
            <a:endParaRPr lang="en-US" dirty="0"/>
          </a:p>
          <a:p>
            <a:endParaRPr lang="en-US" dirty="0"/>
          </a:p>
          <a:p>
            <a:r>
              <a:rPr lang="en-US" dirty="0"/>
              <a:t>## [Group 11] Quality</a:t>
            </a:r>
            <a:endParaRPr lang="en-US" dirty="0"/>
          </a:p>
          <a:p>
            <a:r>
              <a:rPr lang="en-US" dirty="0"/>
              <a:t>combines architectural reuse, sparse selection, selective precision, and a serving policy that takes advantage of local attention.</a:t>
            </a:r>
            <a:endParaRPr lang="en-US" dirty="0"/>
          </a:p>
          <a:p>
            <a:endParaRPr lang="en-US" dirty="0"/>
          </a:p>
          <a:p>
            <a:r>
              <a:rPr lang="en-US" dirty="0"/>
              <a:t>## [Group 17] Replay</a:t>
            </a:r>
            <a:endParaRPr lang="en-US" dirty="0"/>
          </a:p>
          <a:p>
            <a:r>
              <a:rPr lang="en-US" dirty="0"/>
              <a:t>For deployment, evaluate quality on your own tasks, measure cache-hit and replay behavior, and account for memory,</a:t>
            </a:r>
            <a:endParaRPr lang="en-US" dirty="0"/>
          </a:p>
          <a:p>
            <a:endParaRPr lang="en-US" dirty="0"/>
          </a:p>
          <a:p>
            <a:r>
              <a:rPr lang="en-US" dirty="0"/>
              <a:t>## [Group 23] Total cost</a:t>
            </a:r>
            <a:endParaRPr lang="en-US" dirty="0"/>
          </a:p>
          <a:p>
            <a:r>
              <a:rPr lang="en-US" dirty="0"/>
              <a:t>transfer, prefill, and decode together. Keep reasoning effort and harness settings explicit. The report also acknowledges remaining</a:t>
            </a:r>
            <a:endParaRPr lang="en-US" dirty="0"/>
          </a:p>
          <a:p>
            <a:endParaRPr lang="en-US" dirty="0"/>
          </a:p>
          <a:p>
            <a:r>
              <a:rPr lang="en-US" dirty="0"/>
              <a:t>## [Group 25] The model and the serving system are one design problem.</a:t>
            </a:r>
            <a:endParaRPr lang="en-US" dirty="0"/>
          </a:p>
          <a:p>
            <a:r>
              <a:rPr lang="en-US" dirty="0"/>
              <a:t>visual-task gaps. Its strongest lesson is the value of designing the model and serving system together.</a:t>
            </a:r>
            <a:endParaRPr lang="en-US" dirty="0"/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DeepSeek_V41_Flash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DeepSeek_V41_Flash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2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6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slideLayout7.xml"/>
  <Relationship Id="rId2" Type="http://schemas.openxmlformats.org/officeDocument/2006/relationships/image" Target="../media/image_9fec029552916928.png"/>
  <Relationship Id="rId3" Type="http://schemas.openxmlformats.org/officeDocument/2006/relationships/image" Target="../media/image_75e680ed23218212.png"/>
  <Relationship Id="rId4" Type="http://schemas.openxmlformats.org/officeDocument/2006/relationships/notesSlide" Target="../notesSlides/notesSlide1.xml"/>
</Relationships>
</file>

<file path=ppt/slides/_rels/slide2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slideLayout7.xml"/>
  <Relationship Id="rId2" Type="http://schemas.openxmlformats.org/officeDocument/2006/relationships/image" Target="../media/image_398bd06b26d42daf.png"/>
  <Relationship Id="rId3" Type="http://schemas.openxmlformats.org/officeDocument/2006/relationships/notesSlide" Target="../notesSlides/notesSlide4.xml"/>
</Relationships>
</file>

<file path=ppt/slides/_rels/slide5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slideLayout7.xml"/>
  <Relationship Id="rId2" Type="http://schemas.openxmlformats.org/officeDocument/2006/relationships/notesSlide" Target="../notesSlides/notesSlide5.xml"/>
<Relationship Id="rIdFormulaFallback24" Type="http://schemas.openxmlformats.org/officeDocument/2006/relationships/image" Target="../media/rs_formula_s5_16.png"/></Relationships>
</file>

<file path=ppt/slides/_rels/slide6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slideLayout7.xml"/>
  <Relationship Id="rId2" Type="http://schemas.openxmlformats.org/officeDocument/2006/relationships/notesSlide" Target="../notesSlides/notesSlide6.xml"/>
</Relationships>
</file>

<file path=ppt/slides/_rels/slide7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slideLayout7.xml"/>
  <Relationship Id="rId2" Type="http://schemas.openxmlformats.org/officeDocument/2006/relationships/notesSlide" Target="../notesSlides/notesSlide7.xml"/>
</Relationships>
</file>

<file path=ppt/slides/_rels/slide8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slideLayout7.xml"/>
  <Relationship Id="rId2" Type="http://schemas.openxmlformats.org/officeDocument/2006/relationships/notesSlide" Target="../notesSlides/notesSlide8.xml"/>
</Relationships>
</file>

<file path=ppt/slides/_rels/slide9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slideLayout7.xml"/>
  <Relationship Id="rId2" Type="http://schemas.openxmlformats.org/officeDocument/2006/relationships/notesSlide" Target="../notesSlides/notesSlide9.xml"/>
</Relationships>
</file>

<file path=ppt/slides/_rels/slide10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slideLayout7.xml"/>
  <Relationship Id="rId2" Type="http://schemas.openxmlformats.org/officeDocument/2006/relationships/notesSlide" Target="../notesSlides/notesSlide10.xml"/>
</Relationships>
</file>

<file path=ppt/slides/_rels/slide11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slideLayout7.xml"/>
  <Relationship Id="rId2" Type="http://schemas.openxmlformats.org/officeDocument/2006/relationships/notesSlide" Target="../notesSlides/notesSlide11.xml"/>
</Relationships>
</file>

<file path=ppt/slides/_rels/slide12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slideLayout7.xml"/>
  <Relationship Id="rId2" Type="http://schemas.openxmlformats.org/officeDocument/2006/relationships/notesSlide" Target="../notesSlides/notesSlide12.xml"/>
</Relationships>
</file>

<file path=ppt/slides/_rels/slide13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slideLayout7.xml"/>
  <Relationship Id="rId2" Type="http://schemas.openxmlformats.org/officeDocument/2006/relationships/image" Target="../media/image_3b9996a1a221369e.png"/>
  <Relationship Id="rId3" Type="http://schemas.openxmlformats.org/officeDocument/2006/relationships/notesSlide" Target="../notesSlides/notesSlide13.xml"/>
</Relationships>
</file>

<file path=ppt/slides/_rels/slide14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slideLayout7.xml"/>
  <Relationship Id="rId2" Type="http://schemas.openxmlformats.org/officeDocument/2006/relationships/notesSlide" Target="../notesSlides/notesSlide14.xml"/>
</Relationships>
</file>

<file path=ppt/slides/_rels/slide15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slideLayout7.xml"/>
  <Relationship Id="rId2" Type="http://schemas.openxmlformats.org/officeDocument/2006/relationships/notesSlide" Target="../notesSlides/notesSlide15.xml"/>
</Relationships>
</file>

<file path=ppt/slides/_rels/slide16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slideLayout7.xml"/>
  <Relationship Id="rId2" Type="http://schemas.openxmlformats.org/officeDocument/2006/relationships/notesSlide" Target="../notesSlides/notesSlide16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457200" y="457200"/>
            <a:ext cx="11277600" cy="95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7" name="Group 7" descr="## [Group 7] DEEPSEEK-AI / TECHNICAL REPORT&#10;DeepSeek V4.1 Flash asks how far we can compress the memory of a long-running agent without giving up its capabilities. The headline is eight hundred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176a9ef4fa1e4cfad49e767e0b4c56ead185250260c792430eddf3952dcc6820" orderSource="geometry" orderIndex="0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DEEPSEEK-AI / TECHNICAL REPORT</p2vs:concise>
                  <p2vs:detailed>DeepSeek V4.1 Flash asks how far we can compress the memory of a long-running agent without giving up its capabilities. The headline is eight hundred</p2vs:detailed>
                </p2vs:blockSemantics>
              </a:ext>
            </a:extLst>
          </p:cNvPr>
          <p:cNvGrpSpPr/>
          <p:nvPr/>
        </p:nvGrpSpPr>
        <p:grpSpPr>
          <a:xfrm>
            <a:off x="438912" y="948690"/>
            <a:ext cx="5922752" cy="2605278"/>
            <a:chOff x="438912" y="948690"/>
            <a:chExt cx="5922752" cy="2605278"/>
          </a:xfrm>
        </p:grpSpPr>
        <p:sp>
          <p:nvSpPr>
            <p:cNvPr id="3" name="TextBox 3"/>
            <p:cNvSpPr txBox="1"/>
            <p:nvPr/>
          </p:nvSpPr>
          <p:spPr>
            <a:xfrm>
              <a:off x="448056" y="948690"/>
              <a:ext cx="39739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DEEPSEEK-AI / TECHNICAL REPORT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38912" y="1668780"/>
              <a:ext cx="5856549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DeepSeek-V4.1-Flash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438912" y="2259330"/>
              <a:ext cx="5678881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Pushing the Limits of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38912" y="2849880"/>
              <a:ext cx="592275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KV Cache Compression</a:t>
              </a:r>
            </a:p>
          </p:txBody>
        </p:sp>
      </p:grpSp>
      <p:grpSp>
        <p:nvGrpSpPr>
          <p:cNvPr id="12" name="Group 12" descr="## [Group 12] 890&#10;ninety bytes of global key-value cache per token, with support for one million context tokens. In this walkthrough, we will separate the architecture changes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1444e5f7601ac6b9ff87a20b2277e24a94f9ef5128374192183d47bf3003debd" orderSource="geometry" orderIndex="1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890</p2vs:concise>
                  <p2vs:detailed>ninety bytes of global key-value cache per token, with support for one million context tokens. In this walkthrough, we will separate the architecture changes</p2vs:detailed>
                </p2vs:blockSemantics>
              </a:ext>
            </a:extLst>
          </p:cNvPr>
          <p:cNvGrpSpPr/>
          <p:nvPr/>
        </p:nvGrpSpPr>
        <p:grpSpPr>
          <a:xfrm>
            <a:off x="7810500" y="1047750"/>
            <a:ext cx="3905250" cy="3333750"/>
            <a:chOff x="7810500" y="1047750"/>
            <a:chExt cx="3905250" cy="3333750"/>
          </a:xfrm>
        </p:grpSpPr>
        <p:sp>
          <p:nvSpPr>
            <p:cNvPr id="8" name="Freeform 8"/>
            <p:cNvSpPr/>
            <p:nvPr/>
          </p:nvSpPr>
          <p:spPr>
            <a:xfrm>
              <a:off x="7810500" y="1047750"/>
              <a:ext cx="3905250" cy="3333750"/>
            </a:xfrm>
            <a:prstGeom prst="snip1Rect">
              <a:avLst/>
            </a:pr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72450" y="1623060"/>
              <a:ext cx="1717350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890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179308" y="2750820"/>
              <a:ext cx="217291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bytes / token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182356" y="3482340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GLOBAL KV CACHE</a:t>
              </a:r>
            </a:p>
          </p:txBody>
        </p:sp>
      </p:grpSp>
      <p:grpSp>
        <p:nvGrpSpPr>
          <p:cNvPr id="17" name="Group 17" descr="## [Group 17] 1M-token context.&#10;from the serving changes, then examine the evidence and its limits. The key idea is to share global context and reconstruct short-lived local state.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300bf131f93032e60e9539877d48ac6ccd64bd2c23c47e08819409c9233e1d1d" orderSource="geometry" orderIndex="2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1M-token context.</p2vs:concise>
                  <p2vs:detailed>from the serving changes, then examine the evidence and its limits. The key idea is to share global context and reconstruct short-lived local state.</p2vs:detailed>
                </p2vs:blockSemantics>
              </a:ext>
            </a:extLst>
          </p:cNvPr>
          <p:cNvGrpSpPr/>
          <p:nvPr/>
        </p:nvGrpSpPr>
        <p:grpSpPr>
          <a:xfrm>
            <a:off x="445008" y="4610100"/>
            <a:ext cx="6679692" cy="1661351"/>
            <a:chOff x="445008" y="4610100"/>
            <a:chExt cx="6679692" cy="1661351"/>
          </a:xfrm>
        </p:grpSpPr>
        <p:sp>
          <p:nvSpPr>
            <p:cNvPr id="13" name="Line 13"/>
            <p:cNvSpPr/>
            <p:nvPr/>
          </p:nvSpPr>
          <p:spPr>
            <a:xfrm>
              <a:off x="457200" y="4610100"/>
              <a:ext cx="6667500" cy="9525"/>
            </a:xfrm>
            <a:custGeom>
              <a:avLst/>
              <a:gdLst/>
              <a:ahLst/>
              <a:cxnLst/>
              <a:rect l="l" t="t" r="r" b="b"/>
              <a:pathLst>
                <a:path w="6667500" h="9525">
                  <a:moveTo>
                    <a:pt x="0" y="0"/>
                  </a:moveTo>
                  <a:lnTo>
                    <a:pt x="666750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45008" y="4941570"/>
              <a:ext cx="561143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1M-token context.</a:t>
              </a:r>
              <a:r>
                <a:rPr lang="en-US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Smaller state.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48056" y="5482590"/>
              <a:ext cx="400060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Architecture → serving → evidence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50342" y="6007418"/>
              <a:ext cx="62621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An instructional walkthrough for researchers and inference engineers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886700" y="4857750"/>
            <a:ext cx="3848100" cy="1585151"/>
            <a:chOff x="7886700" y="4857750"/>
            <a:chExt cx="3848100" cy="1585151"/>
          </a:xfrm>
        </p:grpSpPr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886700" y="5257800"/>
              <a:ext cx="2247900" cy="476250"/>
            </a:xfrm>
            <a:prstGeom prst="rect">
              <a:avLst/>
            </a:prstGeom>
          </p:spPr>
        </p:pic>
        <p:pic>
          <p:nvPicPr>
            <p:cNvPr id="19" name="Image 1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553700" y="4857750"/>
              <a:ext cx="1181100" cy="1181100"/>
            </a:xfrm>
            <a:prstGeom prst="rect">
              <a:avLst/>
            </a:prstGeom>
          </p:spPr>
        </p:pic>
        <p:sp>
          <p:nvSpPr>
            <p:cNvPr id="20" name="TextBox 20"/>
            <p:cNvSpPr txBox="1"/>
            <p:nvPr/>
          </p:nvSpPr>
          <p:spPr>
            <a:xfrm>
              <a:off x="10546842" y="6178868"/>
              <a:ext cx="9738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Read paper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 descr="## [Group 4] 01 / THE SERVING PROBLEM&#10;Long-horizon agents repeatedly consume tool outputs and revisit large prefixes. That creates three related costs.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34642e94bc7ed2e7a668465ab15f82cf8bc1a98f198171a0cf89b9f090e78d1b" orderSource="geometry" orderIndex="0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01 / THE SERVING PROBLEM</p2vs:concise>
                  <p2vs:detailed>Long-horizon agents repeatedly consume tool outputs and revisit large prefixes. That creates three related costs.</p2vs:detailed>
                </p2vs:blockSemantics>
              </a:ext>
            </a:extLst>
          </p:cNvPr>
          <p:cNvGrpSpPr/>
          <p:nvPr/>
        </p:nvGrpSpPr>
        <p:grpSpPr>
          <a:xfrm>
            <a:off x="438912" y="453390"/>
            <a:ext cx="9030157" cy="1157478"/>
            <a:chOff x="438912" y="453390"/>
            <a:chExt cx="9030157" cy="1157478"/>
          </a:xfrm>
        </p:grpSpPr>
        <p:sp>
          <p:nvSpPr>
            <p:cNvPr id="2" name="TextBox 2"/>
            <p:cNvSpPr txBox="1"/>
            <p:nvPr/>
          </p:nvSpPr>
          <p:spPr>
            <a:xfrm>
              <a:off x="448056" y="453390"/>
              <a:ext cx="31802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01 / THE SERVING PROBLEM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38912" y="906780"/>
              <a:ext cx="9030157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Long context creates three costs</a:t>
              </a:r>
            </a:p>
          </p:txBody>
        </p:sp>
      </p:grpSp>
      <p:grpSp>
        <p:nvGrpSpPr>
          <p:cNvPr id="21" name="Group 21" descr="## [Group 21] Compute&#10;First, prefill must process the input. Second, global key-value state occupies accelerator memory. Third, cached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10a5e1d7f3d53b1d5203fbb1aaf9ffca3f93a030082cec9c8fb3631a773f3f21" orderSource="geometry" orderIndex="1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Compute</p2vs:concise>
                  <p2vs:detailed>First, prefill must process the input. Second, global key-value state occupies accelerator memory. Third, cached</p2vs:detailed>
                </p2vs:blockSemantics>
              </a:ext>
            </a:extLst>
          </p:cNvPr>
          <p:cNvGrpSpPr/>
          <p:nvPr/>
        </p:nvGrpSpPr>
        <p:grpSpPr>
          <a:xfrm>
            <a:off x="457200" y="1981200"/>
            <a:ext cx="3429000" cy="3333750"/>
            <a:chOff x="457200" y="1981200"/>
            <a:chExt cx="3429000" cy="3333750"/>
          </a:xfrm>
        </p:grpSpPr>
        <p:sp>
          <p:nvSpPr>
            <p:cNvPr id="5" name="Rectangle 5"/>
            <p:cNvSpPr/>
            <p:nvPr/>
          </p:nvSpPr>
          <p:spPr>
            <a:xfrm>
              <a:off x="457200" y="1981200"/>
              <a:ext cx="3429000" cy="3333750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781050" y="2324100"/>
              <a:ext cx="342900" cy="342900"/>
              <a:chOff x="781050" y="2324100"/>
              <a:chExt cx="342900" cy="3429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819150" y="2362200"/>
                <a:ext cx="2667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266700">
                    <a:moveTo>
                      <a:pt x="0" y="19050"/>
                    </a:moveTo>
                    <a:cubicBezTo>
                      <a:pt x="0" y="8529"/>
                      <a:pt x="8529" y="0"/>
                      <a:pt x="19050" y="0"/>
                    </a:cubicBezTo>
                    <a:lnTo>
                      <a:pt x="247650" y="0"/>
                    </a:lnTo>
                    <a:cubicBezTo>
                      <a:pt x="258171" y="0"/>
                      <a:pt x="266700" y="8529"/>
                      <a:pt x="266700" y="19050"/>
                    </a:cubicBezTo>
                    <a:lnTo>
                      <a:pt x="266700" y="247650"/>
                    </a:lnTo>
                    <a:cubicBezTo>
                      <a:pt x="266700" y="258171"/>
                      <a:pt x="258171" y="266700"/>
                      <a:pt x="247650" y="266700"/>
                    </a:cubicBezTo>
                    <a:lnTo>
                      <a:pt x="19050" y="266700"/>
                    </a:lnTo>
                    <a:cubicBezTo>
                      <a:pt x="8529" y="266700"/>
                      <a:pt x="0" y="258171"/>
                      <a:pt x="0" y="247650"/>
                    </a:cubicBezTo>
                    <a:lnTo>
                      <a:pt x="0" y="19050"/>
                    </a:ln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895350" y="2438400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0" y="0"/>
                    </a:moveTo>
                    <a:lnTo>
                      <a:pt x="114300" y="0"/>
                    </a:lnTo>
                    <a:lnTo>
                      <a:pt x="114300" y="114300"/>
                    </a:lnTo>
                    <a:lnTo>
                      <a:pt x="0" y="114300"/>
                    </a:ln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781050" y="2457450"/>
                <a:ext cx="38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9525">
                    <a:moveTo>
                      <a:pt x="0" y="0"/>
                    </a:moveTo>
                    <a:lnTo>
                      <a:pt x="38100" y="0"/>
                    </a:ln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781050" y="2533650"/>
                <a:ext cx="38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9525">
                    <a:moveTo>
                      <a:pt x="0" y="0"/>
                    </a:moveTo>
                    <a:lnTo>
                      <a:pt x="38100" y="0"/>
                    </a:ln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914400" y="2324100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0"/>
                    </a:moveTo>
                    <a:lnTo>
                      <a:pt x="0" y="38100"/>
                    </a:ln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990600" y="2324100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0"/>
                    </a:moveTo>
                    <a:lnTo>
                      <a:pt x="0" y="38100"/>
                    </a:ln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085850" y="2457450"/>
                <a:ext cx="38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9525">
                    <a:moveTo>
                      <a:pt x="38100" y="0"/>
                    </a:move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085850" y="2533650"/>
                <a:ext cx="38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9525">
                    <a:moveTo>
                      <a:pt x="38100" y="0"/>
                    </a:move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990600" y="2628900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38100"/>
                    </a:move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914400" y="2628900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38100"/>
                    </a:move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709422" y="3026092"/>
              <a:ext cx="180562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Compute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11708" y="3646170"/>
              <a:ext cx="299109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Process the prefix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14756" y="4396740"/>
              <a:ext cx="22190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Prefill work grows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14756" y="4739640"/>
              <a:ext cx="216278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with input length.</a:t>
              </a:r>
            </a:p>
          </p:txBody>
        </p:sp>
      </p:grpSp>
      <p:grpSp>
        <p:nvGrpSpPr>
          <p:cNvPr id="31" name="Group 31" descr="## [Group 31] Keep&#10;prefixes must be stored and transferred through host memory or storage. Sparse attention mainly attacks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f8390bbec33810426ca38ec70517269a2baf42d556fdf2f1a3829ba0d26a87e9" orderSource="geometry" orderIndex="2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Keep</p2vs:concise>
                  <p2vs:detailed>prefixes must be stored and transferred through host memory or storage. Sparse attention mainly attacks</p2vs:detailed>
                </p2vs:blockSemantics>
              </a:ext>
            </a:extLst>
          </p:cNvPr>
          <p:cNvGrpSpPr/>
          <p:nvPr/>
        </p:nvGrpSpPr>
        <p:grpSpPr>
          <a:xfrm>
            <a:off x="4267200" y="1981200"/>
            <a:ext cx="3467100" cy="3333750"/>
            <a:chOff x="4267200" y="1981200"/>
            <a:chExt cx="3467100" cy="3333750"/>
          </a:xfrm>
        </p:grpSpPr>
        <p:sp>
          <p:nvSpPr>
            <p:cNvPr id="22" name="Rectangle 22"/>
            <p:cNvSpPr/>
            <p:nvPr/>
          </p:nvSpPr>
          <p:spPr>
            <a:xfrm>
              <a:off x="4267200" y="1981200"/>
              <a:ext cx="3467100" cy="3333750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4610100" y="2324100"/>
              <a:ext cx="304800" cy="342900"/>
              <a:chOff x="4610100" y="2324100"/>
              <a:chExt cx="304800" cy="3429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4610100" y="2324100"/>
                <a:ext cx="3048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114300">
                    <a:moveTo>
                      <a:pt x="0" y="57150"/>
                    </a:moveTo>
                    <a:cubicBezTo>
                      <a:pt x="0" y="88713"/>
                      <a:pt x="68232" y="114300"/>
                      <a:pt x="152400" y="114300"/>
                    </a:cubicBezTo>
                    <a:cubicBezTo>
                      <a:pt x="236568" y="114300"/>
                      <a:pt x="304800" y="88713"/>
                      <a:pt x="304800" y="57150"/>
                    </a:cubicBezTo>
                    <a:cubicBezTo>
                      <a:pt x="304800" y="25587"/>
                      <a:pt x="236568" y="0"/>
                      <a:pt x="152400" y="0"/>
                    </a:cubicBezTo>
                    <a:cubicBezTo>
                      <a:pt x="68232" y="0"/>
                      <a:pt x="0" y="25587"/>
                      <a:pt x="0" y="57150"/>
                    </a:cubicBez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4610100" y="2381250"/>
                <a:ext cx="3048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171450">
                    <a:moveTo>
                      <a:pt x="0" y="0"/>
                    </a:moveTo>
                    <a:lnTo>
                      <a:pt x="0" y="114300"/>
                    </a:lnTo>
                    <a:cubicBezTo>
                      <a:pt x="0" y="145863"/>
                      <a:pt x="68232" y="171450"/>
                      <a:pt x="152400" y="171450"/>
                    </a:cubicBezTo>
                    <a:cubicBezTo>
                      <a:pt x="236568" y="171450"/>
                      <a:pt x="304800" y="145863"/>
                      <a:pt x="304800" y="114300"/>
                    </a:cubicBezTo>
                    <a:lnTo>
                      <a:pt x="304800" y="0"/>
                    </a:ln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4610100" y="2495550"/>
                <a:ext cx="3048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171450">
                    <a:moveTo>
                      <a:pt x="0" y="0"/>
                    </a:moveTo>
                    <a:lnTo>
                      <a:pt x="0" y="114300"/>
                    </a:lnTo>
                    <a:cubicBezTo>
                      <a:pt x="0" y="145863"/>
                      <a:pt x="68232" y="171450"/>
                      <a:pt x="152400" y="171450"/>
                    </a:cubicBezTo>
                    <a:cubicBezTo>
                      <a:pt x="236568" y="171450"/>
                      <a:pt x="304800" y="145863"/>
                      <a:pt x="304800" y="114300"/>
                    </a:cubicBezTo>
                    <a:lnTo>
                      <a:pt x="304800" y="0"/>
                    </a:ln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4519422" y="3026092"/>
              <a:ext cx="101555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Keep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21708" y="3646170"/>
              <a:ext cx="257192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Fit state in HBM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24756" y="4396740"/>
              <a:ext cx="213656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Global KV occupies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24756" y="4739640"/>
              <a:ext cx="252625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accelerator memory.</a:t>
              </a:r>
            </a:p>
          </p:txBody>
        </p:sp>
      </p:grpSp>
      <p:grpSp>
        <p:nvGrpSpPr>
          <p:cNvPr id="40" name="Group 40" descr="## [Group 40] Move&#10;computation. It does not automatically eliminate the memory or transfer bill. This report treats those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b66218ca0c4d0cbbaea15ee692ca470a36fe3e0759289d21bca2a185043b0a97" orderSource="geometry" orderIndex="3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Move</p2vs:concise>
                  <p2vs:detailed>computation. It does not automatically eliminate the memory or transfer bill. This report treats those</p2vs:detailed>
                </p2vs:blockSemantics>
              </a:ext>
            </a:extLst>
          </p:cNvPr>
          <p:cNvGrpSpPr/>
          <p:nvPr/>
        </p:nvGrpSpPr>
        <p:grpSpPr>
          <a:xfrm>
            <a:off x="8115300" y="1981200"/>
            <a:ext cx="3619500" cy="3333750"/>
            <a:chOff x="8115300" y="1981200"/>
            <a:chExt cx="3619500" cy="3333750"/>
          </a:xfrm>
        </p:grpSpPr>
        <p:sp>
          <p:nvSpPr>
            <p:cNvPr id="32" name="Rectangle 32"/>
            <p:cNvSpPr/>
            <p:nvPr/>
          </p:nvSpPr>
          <p:spPr>
            <a:xfrm>
              <a:off x="8115300" y="1981200"/>
              <a:ext cx="3619500" cy="3333750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8439150" y="2381250"/>
              <a:ext cx="342900" cy="228600"/>
              <a:chOff x="8439150" y="2381250"/>
              <a:chExt cx="342900" cy="22860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8515350" y="2381250"/>
                <a:ext cx="2667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76200">
                    <a:moveTo>
                      <a:pt x="0" y="76200"/>
                    </a:moveTo>
                    <a:lnTo>
                      <a:pt x="266700" y="76200"/>
                    </a:lnTo>
                    <a:lnTo>
                      <a:pt x="190500" y="0"/>
                    </a:ln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439150" y="2533650"/>
                <a:ext cx="2667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76200">
                    <a:moveTo>
                      <a:pt x="266700" y="0"/>
                    </a:moveTo>
                    <a:lnTo>
                      <a:pt x="0" y="0"/>
                    </a:lnTo>
                    <a:lnTo>
                      <a:pt x="76200" y="76200"/>
                    </a:ln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8367522" y="3026092"/>
              <a:ext cx="110525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Move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69808" y="3646170"/>
              <a:ext cx="289450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Load cached state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372856" y="4396740"/>
              <a:ext cx="250031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Host memory and SSD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372856" y="4739640"/>
              <a:ext cx="232029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add a transfer bill.</a:t>
              </a:r>
            </a:p>
          </p:txBody>
        </p:sp>
      </p:grpSp>
      <p:grpSp>
        <p:nvGrpSpPr>
          <p:cNvPr id="42" name="Group 42" descr="## [Group 42] Sparse attention reduces compute.&#10;costs together, which is why several model and serving changes appear in the same design.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e66a4493d58a7bb1f176191d031099e1f6c2d76da9a4104b3b856de764c18e98" orderSource="geometry" orderIndex="4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Sparse attention reduces compute.</p2vs:concise>
                  <p2vs:detailed>costs together, which is why several model and serving changes appear in the same design.</p2vs:detailed>
                </p2vs:blockSemantics>
              </a:ext>
            </a:extLst>
          </p:cNvPr>
          <p:cNvGrpSpPr/>
          <p:nvPr/>
        </p:nvGrpSpPr>
        <p:grpSpPr>
          <a:xfrm>
            <a:off x="445008" y="5684520"/>
            <a:ext cx="9447388" cy="469392"/>
            <a:chOff x="445008" y="5684520"/>
            <a:chExt cx="9447388" cy="469392"/>
          </a:xfrm>
        </p:grpSpPr>
        <p:sp>
          <p:nvSpPr>
            <p:cNvPr id="41" name="TextBox 41"/>
            <p:cNvSpPr txBox="1"/>
            <p:nvPr/>
          </p:nvSpPr>
          <p:spPr>
            <a:xfrm>
              <a:off x="445008" y="5684520"/>
              <a:ext cx="944738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Sparse attention reduces compute. </a:t>
              </a:r>
              <a:r>
                <a:rPr lang="en-US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State still has a cost.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450342" y="6388418"/>
            <a:ext cx="11291316" cy="264033"/>
            <a:chOff x="450342" y="6388418"/>
            <a:chExt cx="11291316" cy="264033"/>
          </a:xfrm>
        </p:grpSpPr>
        <p:sp>
          <p:nvSpPr>
            <p:cNvPr id="43" name="TextBox 43"/>
            <p:cNvSpPr txBox="1"/>
            <p:nvPr/>
          </p:nvSpPr>
          <p:spPr>
            <a:xfrm>
              <a:off x="450342" y="6388418"/>
              <a:ext cx="53918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Source: DeepSeek-V4.1-Flash report, Introduction and §3.2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28031" y="638841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4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4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4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4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 descr="## [Group 5] 02 / THE CORE DISTINCTION&#10;The useful distinction is between global context and local state. A global cache carries information from a long history,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742a92635819c1e960ee3bbf04da14fe0369b40690a930e6574165621afbbc99" orderSource="geometry" orderIndex="0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02 / THE CORE DISTINCTION</p2vs:concise>
                  <p2vs:detailed>The useful distinction is between global context and local state. A global cache carries information from a long history,</p2vs:detailed>
                </p2vs:blockSemantics>
              </a:ext>
            </a:extLst>
          </p:cNvPr>
          <p:cNvGrpSpPr/>
          <p:nvPr/>
        </p:nvGrpSpPr>
        <p:grpSpPr>
          <a:xfrm>
            <a:off x="438912" y="453390"/>
            <a:ext cx="6031565" cy="1709928"/>
            <a:chOff x="438912" y="453390"/>
            <a:chExt cx="6031565" cy="1709928"/>
          </a:xfrm>
        </p:grpSpPr>
        <p:sp>
          <p:nvSpPr>
            <p:cNvPr id="2" name="TextBox 2"/>
            <p:cNvSpPr txBox="1"/>
            <p:nvPr/>
          </p:nvSpPr>
          <p:spPr>
            <a:xfrm>
              <a:off x="448056" y="453390"/>
              <a:ext cx="319308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/ THE CORE DISTINCTION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38912" y="887730"/>
              <a:ext cx="5664193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Global and local state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38912" y="1459230"/>
              <a:ext cx="6031565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need different policies</a:t>
              </a:r>
            </a:p>
          </p:txBody>
        </p:sp>
      </p:grpSp>
      <p:sp>
        <p:nvSpPr>
          <p:cNvPr id="6" name="Line 6"/>
          <p:cNvSpPr/>
          <p:nvPr/>
        </p:nvSpPr>
        <p:spPr>
          <a:xfrm>
            <a:off x="6572250" y="2514600"/>
            <a:ext cx="9525" cy="2343150"/>
          </a:xfrm>
          <a:custGeom>
            <a:avLst/>
            <a:gdLst/>
            <a:ahLst/>
            <a:cxnLst/>
            <a:rect l="l" t="t" r="r" b="b"/>
            <a:pathLst>
              <a:path w="9525" h="2343150">
                <a:moveTo>
                  <a:pt x="0" y="0"/>
                </a:moveTo>
                <a:lnTo>
                  <a:pt x="0" y="2343150"/>
                </a:lnTo>
              </a:path>
            </a:pathLst>
          </a:custGeom>
          <a:noFill/>
          <a:ln w="57150">
            <a:solidFill>
              <a:schemeClr val="accent1"/>
            </a:solidFill>
          </a:ln>
        </p:spPr>
      </p:sp>
      <p:grpSp>
        <p:nvGrpSpPr>
          <p:cNvPr id="11" name="Group 11" descr="## [Group 11] GLOBAL CONTEXT&#10;so reducing repeated copies and lowering precision have large benefits. Sliding-window attention has a short local horizon, making reconstruction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8fd62186d0a64bfd44e9d71d7244e688915e2ff4011bf046deda092f19b52a86" orderSource="geometry" orderIndex="1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GLOBAL CONTEXT</p2vs:concise>
                  <p2vs:detailed>so reducing repeated copies and lowering precision have large benefits. Sliding-window attention has a short local horizon, making reconstruction</p2vs:detailed>
                </p2vs:blockSemantics>
              </a:ext>
            </a:extLst>
          </p:cNvPr>
          <p:cNvGrpSpPr/>
          <p:nvPr/>
        </p:nvGrpSpPr>
        <p:grpSpPr>
          <a:xfrm>
            <a:off x="442722" y="2568892"/>
            <a:ext cx="4511992" cy="2408492"/>
            <a:chOff x="442722" y="2568892"/>
            <a:chExt cx="4511992" cy="2408492"/>
          </a:xfrm>
        </p:grpSpPr>
        <p:sp>
          <p:nvSpPr>
            <p:cNvPr id="7" name="TextBox 7"/>
            <p:cNvSpPr txBox="1"/>
            <p:nvPr/>
          </p:nvSpPr>
          <p:spPr>
            <a:xfrm>
              <a:off x="442722" y="2568892"/>
              <a:ext cx="4086343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GLOBAL CONTEXT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45008" y="3436620"/>
              <a:ext cx="339102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Share</a:t>
              </a:r>
              <a:r>
                <a:rPr lang="en-US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across layers.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45008" y="3950970"/>
              <a:ext cx="450970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Quantize long-lived history.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48056" y="4625340"/>
              <a:ext cx="38427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Fewer copies of expensive state</a:t>
              </a:r>
            </a:p>
          </p:txBody>
        </p:sp>
      </p:grpSp>
      <p:grpSp>
        <p:nvGrpSpPr>
          <p:cNvPr id="16" name="Group 16" descr="## [Group 16] LOCAL STATE&#10;a plausible alternative to persistent storage. Exact reconstruction can still require replay across the layered receptive field. Bounded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79c4e96ec971c493c512c87b9cc956db3fa9bc4258f060193b9a2dc98741c88a" orderSource="geometry" orderIndex="2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LOCAL STATE</p2vs:concise>
                  <p2vs:detailed>a plausible alternative to persistent storage. Exact reconstruction can still require replay across the layered receptive field. Bounded</p2vs:detailed>
                </p2vs:blockSemantics>
              </a:ext>
            </a:extLst>
          </p:cNvPr>
          <p:cNvGrpSpPr/>
          <p:nvPr/>
        </p:nvGrpSpPr>
        <p:grpSpPr>
          <a:xfrm>
            <a:off x="6976872" y="2568892"/>
            <a:ext cx="4368751" cy="2408492"/>
            <a:chOff x="6976872" y="2568892"/>
            <a:chExt cx="4368751" cy="2408492"/>
          </a:xfrm>
        </p:grpSpPr>
        <p:sp>
          <p:nvSpPr>
            <p:cNvPr id="12" name="TextBox 12"/>
            <p:cNvSpPr txBox="1"/>
            <p:nvPr/>
          </p:nvSpPr>
          <p:spPr>
            <a:xfrm>
              <a:off x="6976872" y="2568892"/>
              <a:ext cx="313014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LOCAL STATE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979158" y="3436620"/>
              <a:ext cx="411393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Regenerate</a:t>
              </a:r>
              <a:r>
                <a:rPr lang="en-US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when needed.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979158" y="3950970"/>
              <a:ext cx="404201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Replay a recent segment.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982206" y="4625340"/>
              <a:ext cx="436341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Approximation must preserve quality</a:t>
              </a:r>
            </a:p>
          </p:txBody>
        </p:sp>
      </p:grpSp>
      <p:grpSp>
        <p:nvGrpSpPr>
          <p:cNvPr id="19" name="Group 19" descr="## [Group 19] State lifetime determines the serving policy.&#10;replay deliberately uses a shorter recent segment. Keep that approximation in mind as we work through the architecture.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c31e656f030de62c7e44d6769115417512e670019c67a2983464b024352d3bf6" orderSource="geometry" orderIndex="3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State lifetime determines the serving policy.</p2vs:concise>
                  <p2vs:detailed>replay deliberately uses a shorter recent segment. Keep that approximation in mind as we work through the architecture.</p2vs:detailed>
                </p2vs:blockSemantics>
              </a:ext>
            </a:extLst>
          </p:cNvPr>
          <p:cNvGrpSpPr/>
          <p:nvPr/>
        </p:nvGrpSpPr>
        <p:grpSpPr>
          <a:xfrm>
            <a:off x="445008" y="5448300"/>
            <a:ext cx="11289792" cy="724662"/>
            <a:chOff x="445008" y="5448300"/>
            <a:chExt cx="11289792" cy="724662"/>
          </a:xfrm>
        </p:grpSpPr>
        <p:sp>
          <p:nvSpPr>
            <p:cNvPr id="17" name="Line 17"/>
            <p:cNvSpPr/>
            <p:nvPr/>
          </p:nvSpPr>
          <p:spPr>
            <a:xfrm>
              <a:off x="457200" y="54483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45008" y="5703570"/>
              <a:ext cx="719117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State lifetime determines the serving policy.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50342" y="6388418"/>
            <a:ext cx="11291316" cy="264033"/>
            <a:chOff x="450342" y="6388418"/>
            <a:chExt cx="11291316" cy="264033"/>
          </a:xfrm>
        </p:grpSpPr>
        <p:sp>
          <p:nvSpPr>
            <p:cNvPr id="20" name="TextBox 20"/>
            <p:cNvSpPr txBox="1"/>
            <p:nvPr/>
          </p:nvSpPr>
          <p:spPr>
            <a:xfrm>
              <a:off x="450342" y="6388418"/>
              <a:ext cx="32426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Source: report §2.3–2.4 and §3.2.2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528031" y="638841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 descr="## [Group 4] 03 / THE CONTRIBUTION&#10;The model has five hundred fifty-two billion backbone parameters and forty Transformer layers, split evenly between encoder and decoder.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51b6b70c8eb9bff0bbddb434be2389926d49d86baf257758f6b092414e2b73a3" orderSource="geometry" orderIndex="0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03 / THE CONTRIBUTION</p2vs:concise>
                  <p2vs:detailed>The model has five hundred fifty-two billion backbone parameters and forty Transformer layers, split evenly between encoder and decoder.</p2vs:detailed>
                </p2vs:blockSemantics>
              </a:ext>
            </a:extLst>
          </p:cNvPr>
          <p:cNvGrpSpPr/>
          <p:nvPr/>
        </p:nvGrpSpPr>
        <p:grpSpPr>
          <a:xfrm>
            <a:off x="438912" y="453390"/>
            <a:ext cx="10185344" cy="1157478"/>
            <a:chOff x="438912" y="453390"/>
            <a:chExt cx="10185344" cy="1157478"/>
          </a:xfrm>
        </p:grpSpPr>
        <p:sp>
          <p:nvSpPr>
            <p:cNvPr id="2" name="TextBox 2"/>
            <p:cNvSpPr txBox="1"/>
            <p:nvPr/>
          </p:nvSpPr>
          <p:spPr>
            <a:xfrm>
              <a:off x="448056" y="453390"/>
              <a:ext cx="275783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 / THE CONTRIBUTION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38912" y="906780"/>
              <a:ext cx="1018534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One design connects model and serving</a:t>
              </a:r>
            </a:p>
          </p:txBody>
        </p:sp>
      </p:grpSp>
      <p:grpSp>
        <p:nvGrpSpPr>
          <p:cNvPr id="7" name="Group 7" descr="## [Group 7] 552B&#10;Its core efficiency mechanisms are the causal encoder-decoder, Compressed Sparse Attention Two, hierarchical indexing, four-bit main caching, and bounded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ca8bff36bc60c59e844c8d2a4a97bffd20ef8d3c2682c1c89a7f722ba0034deb" orderSource="geometry" orderIndex="1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552B</p2vs:concise>
                  <p2vs:detailed>Its core efficiency mechanisms are the causal encoder-decoder, Compressed Sparse Attention Two, hierarchical indexing, four-bit main caching, and bounded</p2vs:detailed>
                </p2vs:blockSemantics>
              </a:ext>
            </a:extLst>
          </p:cNvPr>
          <p:cNvGrpSpPr/>
          <p:nvPr/>
        </p:nvGrpSpPr>
        <p:grpSpPr>
          <a:xfrm>
            <a:off x="438150" y="2004060"/>
            <a:ext cx="2548280" cy="1449324"/>
            <a:chOff x="438150" y="2004060"/>
            <a:chExt cx="2548280" cy="1449324"/>
          </a:xfrm>
        </p:grpSpPr>
        <p:sp>
          <p:nvSpPr>
            <p:cNvPr id="5" name="TextBox 5"/>
            <p:cNvSpPr txBox="1"/>
            <p:nvPr/>
          </p:nvSpPr>
          <p:spPr>
            <a:xfrm>
              <a:off x="438150" y="2004060"/>
              <a:ext cx="2403836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552B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48056" y="3101340"/>
              <a:ext cx="25383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backbone parameters</a:t>
              </a:r>
            </a:p>
          </p:txBody>
        </p:sp>
      </p:grpSp>
      <p:grpSp>
        <p:nvGrpSpPr>
          <p:cNvPr id="13" name="Group 13" descr="## [Group 13] 20 + 20 layers&#10;replay. The architecture figure also includes Single-Pass mHC, Engram conditional memory, and the DSpark speculative decoder. We will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bff3de7d1e25a9cc59e25f54bb591029e161f72442089b5c90ca21424b06c772" orderSource="geometry" orderIndex="2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20 + 20 layers</p2vs:concise>
                  <p2vs:detailed>replay. The architecture figure also includes Single-Pass mHC, Engram conditional memory, and the DSpark speculative decoder. We will</p2vs:detailed>
                </p2vs:blockSemantics>
              </a:ext>
            </a:extLst>
          </p:cNvPr>
          <p:cNvGrpSpPr/>
          <p:nvPr/>
        </p:nvGrpSpPr>
        <p:grpSpPr>
          <a:xfrm>
            <a:off x="445008" y="3943350"/>
            <a:ext cx="2355342" cy="2234184"/>
            <a:chOff x="445008" y="3943350"/>
            <a:chExt cx="2355342" cy="2234184"/>
          </a:xfrm>
        </p:grpSpPr>
        <p:sp>
          <p:nvSpPr>
            <p:cNvPr id="8" name="Line 8"/>
            <p:cNvSpPr/>
            <p:nvPr/>
          </p:nvSpPr>
          <p:spPr>
            <a:xfrm>
              <a:off x="457200" y="3943350"/>
              <a:ext cx="2343150" cy="9525"/>
            </a:xfrm>
            <a:custGeom>
              <a:avLst/>
              <a:gdLst/>
              <a:ahLst/>
              <a:cxnLst/>
              <a:rect l="l" t="t" r="r" b="b"/>
              <a:pathLst>
                <a:path w="2343150" h="9525">
                  <a:moveTo>
                    <a:pt x="0" y="0"/>
                  </a:moveTo>
                  <a:lnTo>
                    <a:pt x="234315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45008" y="4236720"/>
              <a:ext cx="229730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 + 20 layers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48056" y="4720590"/>
              <a:ext cx="217145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Encoder + decoder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45008" y="5341620"/>
              <a:ext cx="144677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Up to 1M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48056" y="5825490"/>
              <a:ext cx="18235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context tokens</a:t>
              </a:r>
            </a:p>
          </p:txBody>
        </p:sp>
      </p:grpSp>
      <p:grpSp>
        <p:nvGrpSpPr>
          <p:cNvPr id="15" name="Group 15" descr="## [Group 15] Group 15&#10;concentrate on the mechanisms that change long-context compute and cache behavior, while treating the remaining components as context.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ff525b13d6d3ad6f08d811b2293b32d8f76c6841a3c337f2f43041bea887b14f" orderSource="geometry" orderIndex="3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Group 15</p2vs:concise>
                  <p2vs:detailed>concentrate on the mechanisms that change long-context compute and cache behavior, while treating the remaining components as context.</p2vs:detailed>
                </p2vs:blockSemantics>
              </a:ext>
            </a:extLst>
          </p:cNvPr>
          <p:cNvGrpSpPr/>
          <p:nvPr/>
        </p:nvGrpSpPr>
        <p:grpSpPr>
          <a:xfrm>
            <a:off x="3314700" y="1885950"/>
            <a:ext cx="8420100" cy="4324350"/>
            <a:chOff x="3314700" y="1885950"/>
            <a:chExt cx="8420100" cy="4324350"/>
          </a:xfrm>
        </p:grpSpPr>
        <p:pic>
          <p:nvPicPr>
            <p:cNvPr id="14" name="Image 1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14700" y="1885950"/>
              <a:ext cx="8420100" cy="4324350"/>
            </a:xfrm>
            <a:prstGeom prst="rect">
              <a:avLst/>
            </a:prstGeom>
          </p:spPr>
        </p:pic>
      </p:grpSp>
      <p:grpSp>
        <p:nvGrpSpPr>
          <p:cNvPr id="18" name="Group 18"/>
          <p:cNvGrpSpPr/>
          <p:nvPr/>
        </p:nvGrpSpPr>
        <p:grpSpPr>
          <a:xfrm>
            <a:off x="450342" y="6388418"/>
            <a:ext cx="11291316" cy="264033"/>
            <a:chOff x="450342" y="6388418"/>
            <a:chExt cx="11291316" cy="264033"/>
          </a:xfrm>
        </p:grpSpPr>
        <p:sp>
          <p:nvSpPr>
            <p:cNvPr id="16" name="TextBox 16"/>
            <p:cNvSpPr txBox="1"/>
            <p:nvPr/>
          </p:nvSpPr>
          <p:spPr>
            <a:xfrm>
              <a:off x="450342" y="6388418"/>
              <a:ext cx="65038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Source: report Figure 3 and §2.1. Architecture figure preserved in full.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528031" y="638841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 descr="## [Group 4] 04 / CAUSAL ENCODER–DECODER&#10;Start with the causal encoder-decoder. In an ordinary decoder stack, producing a later layer’s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eb8d8e815d9a827af5e1b095cc2d911dd5fa9eefa19fdb7c3d7e0f8426da7d31" orderSource="geometry" orderIndex="0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04 / CAUSAL ENCODER–DECODER</p2vs:concise>
                  <p2vs:detailed>Start with the causal encoder-decoder. In an ordinary decoder stack, producing a later layer’s</p2vs:detailed>
                </p2vs:blockSemantics>
              </a:ext>
            </a:extLst>
          </p:cNvPr>
          <p:cNvGrpSpPr/>
          <p:nvPr/>
        </p:nvGrpSpPr>
        <p:grpSpPr>
          <a:xfrm>
            <a:off x="438912" y="434340"/>
            <a:ext cx="11212373" cy="1138428"/>
            <a:chOff x="438912" y="434340"/>
            <a:chExt cx="11212373" cy="1138428"/>
          </a:xfrm>
        </p:grpSpPr>
        <p:sp>
          <p:nvSpPr>
            <p:cNvPr id="2" name="TextBox 2"/>
            <p:cNvSpPr txBox="1"/>
            <p:nvPr/>
          </p:nvSpPr>
          <p:spPr>
            <a:xfrm>
              <a:off x="448056" y="434340"/>
              <a:ext cx="37307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 / CAUSAL ENCODER–DECODER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38912" y="868680"/>
              <a:ext cx="11212373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Decoder global KV comes from the encoder</a:t>
              </a:r>
            </a:p>
          </p:txBody>
        </p:sp>
      </p:grpSp>
      <p:grpSp>
        <p:nvGrpSpPr>
          <p:cNvPr id="8" name="Group 8" descr="## [Group 8] Encoder output&#10;cache requires running the prefix through earlier layers. Here, the decoder’s global keys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3a00eabb7ce1ff5d828835fe8dc74f44c0f7de36ffb7f275cc9eb62b42303a72" orderSource="geometry" orderIndex="1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Encoder output</p2vs:concise>
                  <p2vs:detailed>cache requires running the prefix through earlier layers. Here, the decoder’s global keys</p2vs:detailed>
                </p2vs:blockSemantics>
              </a:ext>
            </a:extLst>
          </p:cNvPr>
          <p:cNvGrpSpPr/>
          <p:nvPr/>
        </p:nvGrpSpPr>
        <p:grpSpPr>
          <a:xfrm>
            <a:off x="457200" y="2247900"/>
            <a:ext cx="4572000" cy="1752600"/>
            <a:chOff x="457200" y="2247900"/>
            <a:chExt cx="4572000" cy="1752600"/>
          </a:xfrm>
        </p:grpSpPr>
        <p:sp>
          <p:nvSpPr>
            <p:cNvPr id="5" name="Rectangle 5"/>
            <p:cNvSpPr/>
            <p:nvPr/>
          </p:nvSpPr>
          <p:spPr>
            <a:xfrm>
              <a:off x="457200" y="2247900"/>
              <a:ext cx="4572000" cy="1752600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09422" y="2549842"/>
              <a:ext cx="3252343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Encoder output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14756" y="3253740"/>
              <a:ext cx="41462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Final hidden states, after layer 20</a:t>
              </a:r>
            </a:p>
          </p:txBody>
        </p:sp>
      </p:grpSp>
      <p:grpSp>
        <p:nvGrpSpPr>
          <p:cNvPr id="11" name="Group 11" descr="## [Group 11] Project&#10;and values are projected directly from the final encoder hidden states. The equation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760c2cb1a908876fda6e32f84f9ae4a5eb8796bda1b8197d49eaeee1c2455689" orderSource="geometry" orderIndex="2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Project</p2vs:concise>
                  <p2vs:detailed>and values are projected directly from the final encoder hidden states. The equation</p2vs:detailed>
                </p2vs:blockSemantics>
              </a:ext>
            </a:extLst>
          </p:cNvPr>
          <p:cNvGrpSpPr/>
          <p:nvPr/>
        </p:nvGrpSpPr>
        <p:grpSpPr>
          <a:xfrm>
            <a:off x="5334000" y="2667000"/>
            <a:ext cx="1333500" cy="1148334"/>
            <a:chOff x="5334000" y="2667000"/>
            <a:chExt cx="1333500" cy="1148334"/>
          </a:xfrm>
        </p:grpSpPr>
        <p:sp>
          <p:nvSpPr>
            <p:cNvPr id="9" name="Freeform 9"/>
            <p:cNvSpPr/>
            <p:nvPr/>
          </p:nvSpPr>
          <p:spPr>
            <a:xfrm>
              <a:off x="5334000" y="2667000"/>
              <a:ext cx="1333500" cy="628650"/>
            </a:xfrm>
            <a:prstGeom prst="rightArrow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570960" y="3463290"/>
              <a:ext cx="8976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Project</a:t>
              </a:r>
            </a:p>
          </p:txBody>
        </p:sp>
      </p:grpSp>
      <p:grpSp>
        <p:nvGrpSpPr>
          <p:cNvPr id="15" name="Group 15" descr="## [Group 15] Decoder global KV&#10;expresses that dependency: each decoder layer’s global cache is a learned projection of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7b7794f03650ec461f8d62517d028e8d801ba353e0bc0b2d06de5303a1490e47" orderSource="geometry" orderIndex="3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Decoder global KV</p2vs:concise>
                  <p2vs:detailed>expresses that dependency: each decoder layer’s global cache is a learned projection of</p2vs:detailed>
                </p2vs:blockSemantics>
              </a:ext>
            </a:extLst>
          </p:cNvPr>
          <p:cNvGrpSpPr/>
          <p:nvPr/>
        </p:nvGrpSpPr>
        <p:grpSpPr>
          <a:xfrm>
            <a:off x="6991350" y="2247900"/>
            <a:ext cx="4743450" cy="1752600"/>
            <a:chOff x="6991350" y="2247900"/>
            <a:chExt cx="4743450" cy="1752600"/>
          </a:xfrm>
        </p:grpSpPr>
        <p:sp>
          <p:nvSpPr>
            <p:cNvPr id="12" name="Rectangle 12"/>
            <p:cNvSpPr/>
            <p:nvPr/>
          </p:nvSpPr>
          <p:spPr>
            <a:xfrm>
              <a:off x="6991350" y="2247900"/>
              <a:ext cx="4743450" cy="1752600"/>
            </a:xfrm>
            <a:prstGeom prst="rect">
              <a:avLst/>
            </a:prstGeom>
            <a:solidFill>
              <a:schemeClr val="lt2"/>
            </a:solidFill>
            <a:ln w="38100">
              <a:solidFill>
                <a:schemeClr val="accent1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243572" y="2549842"/>
              <a:ext cx="3735483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Decoder global KV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248906" y="3253740"/>
              <a:ext cx="412115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Built directly from encoder states</a:t>
              </a:r>
            </a:p>
          </p:txBody>
        </p:sp>
      </p:grpSp>
      <p:grpSp>
        <p:nvGrpSpPr>
          <p:cNvPr id="17" name="Group 17" descr="## [Group 17] Group 17&#10;the encoder output. This changes what long-prefix prefill must compute. It does not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e9cc3a93595e9c537d90fb66081ec1fe04d8ec94517adc576d608f326ec038e8" orderSource="geometry" orderIndex="4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Group 17</p2vs:concise>
                  <p2vs:detailed>the encoder output. This changes what long-prefix prefill must compute. It does not</p2vs:detailed>
                </p2vs:blockSemantics>
              </a:ext>
            </a:extLst>
          </p:cNvPr>
          <p:cNvGrpSpPr/>
          <p:nvPr/>
        </p:nvGrpSpPr>
        <p:grpSpPr>
          <a:xfrm>
            <a:off x="457200" y="4381500"/>
            <a:ext cx="11277600" cy="838200"/>
            <a:chOff x="457200" y="4381500"/>
            <a:chExt cx="11277600" cy="838200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ced-equation-math"/>
                <p:cNvSpPr txBox="1">
                  <a:spLocks noGrp="1"/>
                </p:cNvSpPr>
                <p:nvPr/>
              </p:nvSpPr>
              <p:spPr>
                <a:xfrm>
                  <a:off x="457200" y="4381500"/>
                  <a:ext cx="11277600" cy="838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en-US" sz="2850" dirty="0">
                                <a:solidFill>
                                  <a:srgbClr val="4C0519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</m:t>
                            </m:r>
                          </m:e>
                          <m:sub>
                            <m:r>
                              <a:rPr lang="en-US" sz="2850" dirty="0">
                                <a:solidFill>
                                  <a:srgbClr val="4C0519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sz="2850" dirty="0">
                            <a:solidFill>
                              <a:srgbClr val="4C0519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en-US" sz="2850" dirty="0">
                                <a:solidFill>
                                  <a:srgbClr val="4C0519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H</m:t>
                            </m:r>
                          </m:e>
                          <m:sub>
                            <m:r>
                              <a:rPr lang="en-US" sz="2850" dirty="0">
                                <a:solidFill>
                                  <a:srgbClr val="4C0519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</m:t>
                            </m:r>
                            <m:r>
                              <m:rPr>
                                <m:sty m:val="p"/>
                              </m:rPr>
                              <a:rPr lang="en-US" sz="2850" dirty="0">
                                <a:solidFill>
                                  <a:srgbClr val="4C0519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/</m:t>
                            </m:r>
                            <m:r>
                              <a:rPr lang="en-US" sz="2850" dirty="0">
                                <a:solidFill>
                                  <a:srgbClr val="4C0519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b>
                        </m:sSub>
                        <m:sSubSup>
                          <m:e>
                            <m:r>
                              <a:rPr lang="en-US" sz="2850" dirty="0">
                                <a:solidFill>
                                  <a:srgbClr val="4C0519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W</m:t>
                            </m:r>
                          </m:e>
                          <m:sub>
                            <m:r>
                              <a:rPr lang="en-US" sz="2850" dirty="0">
                                <a:solidFill>
                                  <a:srgbClr val="4C0519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</m:t>
                            </m:r>
                          </m:sub>
                          <m:sup>
                            <m:r>
                              <a:rPr lang="en-US" sz="2850" dirty="0">
                                <a:solidFill>
                                  <a:srgbClr val="4C0519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KV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US" sz="2850" dirty="0">
                            <a:solidFill>
                              <a:srgbClr val="4C0519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en-US" sz="2850" dirty="0">
                            <a:solidFill>
                              <a:srgbClr val="4C0519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r>
                          <a:rPr lang="en-US" sz="2850" dirty="0">
                            <a:solidFill>
                              <a:srgbClr val="4C0519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l</m:t>
                        </m:r>
                        <m:r>
                          <m:rPr>
                            <m:sty m:val="p"/>
                          </m:rPr>
                          <a:rPr lang="en-US" sz="2850" dirty="0">
                            <a:solidFill>
                              <a:srgbClr val="4C0519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&gt;</m:t>
                        </m:r>
                        <m:r>
                          <a:rPr lang="en-US" sz="2850" dirty="0">
                            <a:solidFill>
                              <a:srgbClr val="4C0519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L</m:t>
                        </m:r>
                        <m:r>
                          <m:rPr>
                            <m:sty m:val="p"/>
                          </m:rPr>
                          <a:rPr lang="en-US" sz="2850" dirty="0">
                            <a:solidFill>
                              <a:srgbClr val="4C0519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/</m:t>
                        </m:r>
                        <m:r>
                          <a:rPr lang="en-US" sz="2850" dirty="0">
                            <a:solidFill>
                              <a:srgbClr val="4C0519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</m:t>
                        </m:r>
                      </m:oMath>
                    </m:oMathPara>
                  </a14:m>
                </a:p>
              </p:txBody>
            </p:sp>
          </mc:Choice>
          <mc:Fallback>
            <p:pic>
              <p:nvPicPr>
                <p:cNvPr id="24" name="ced-equation-math (compatible preview)"/>
                <p:cNvPicPr/>
                <p:nvPr/>
              </p:nvPicPr>
              <p:blipFill>
                <a:blip r:embed="rIdFormulaFallback24"/>
                <a:stretch>
                  <a:fillRect/>
                </a:stretch>
              </p:blipFill>
              <p:spPr>
                <a:xfrm>
                  <a:off x="457200" y="4381500"/>
                  <a:ext cx="11277600" cy="8382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mc:Fallback>
        </mc:AlternateContent>
      </p:grpSp>
      <p:grpSp>
        <p:nvGrpSpPr>
          <p:cNvPr id="20" name="Group 20" descr="## [Group 20] Each layer still has&#10;remove the decoder, and each layer still maintains its own local sliding-window state.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c183501ff6e55abc511d69d2269c14fdbcee2fa624cdddcd68ce161261839d2f" orderSource="geometry" orderIndex="5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Each layer still has</p2vs:concise>
                  <p2vs:detailed>remove the decoder, and each layer still maintains its own local sliding-window state.</p2vs:detailed>
                </p2vs:blockSemantics>
              </a:ext>
            </a:extLst>
          </p:cNvPr>
          <p:cNvGrpSpPr/>
          <p:nvPr/>
        </p:nvGrpSpPr>
        <p:grpSpPr>
          <a:xfrm>
            <a:off x="445008" y="5524500"/>
            <a:ext cx="11289792" cy="705612"/>
            <a:chOff x="445008" y="5524500"/>
            <a:chExt cx="11289792" cy="705612"/>
          </a:xfrm>
        </p:grpSpPr>
        <p:sp>
          <p:nvSpPr>
            <p:cNvPr id="18" name="Line 18"/>
            <p:cNvSpPr/>
            <p:nvPr/>
          </p:nvSpPr>
          <p:spPr>
            <a:xfrm>
              <a:off x="457200" y="55245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45008" y="5760720"/>
              <a:ext cx="887233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Each layer still has 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its own query and local SWA state.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50342" y="6388418"/>
            <a:ext cx="11291316" cy="264033"/>
            <a:chOff x="450342" y="6388418"/>
            <a:chExt cx="11291316" cy="264033"/>
          </a:xfrm>
        </p:grpSpPr>
        <p:sp>
          <p:nvSpPr>
            <p:cNvPr id="21" name="TextBox 21"/>
            <p:cNvSpPr txBox="1"/>
            <p:nvPr/>
          </p:nvSpPr>
          <p:spPr>
            <a:xfrm>
              <a:off x="450342" y="6388418"/>
              <a:ext cx="56809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Source: report §2.2, Eq. 1. C denotes global KV; L = 40 layers.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528031" y="638841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 descr="## [Group 4] 05 / WHY INPUT-HEAVY WORKLOADS BENEFIT&#10;The consequence is asymmetric work. Prefill activates eight billion parameters per token, while decoding activates sixteen billion. For a long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8456d698b4f2371571aeab8c8d529c206b6bd9d62608386d5cfe620e1685aaeb" orderSource="geometry" orderIndex="0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05 / WHY INPUT-HEAVY WORKLOADS BENEFIT</p2vs:concise>
                  <p2vs:detailed>The consequence is asymmetric work. Prefill activates eight billion parameters per token, while decoding activates sixteen billion. For a long</p2vs:detailed>
                </p2vs:blockSemantics>
              </a:ext>
            </a:extLst>
          </p:cNvPr>
          <p:cNvGrpSpPr/>
          <p:nvPr/>
        </p:nvGrpSpPr>
        <p:grpSpPr>
          <a:xfrm>
            <a:off x="438912" y="453390"/>
            <a:ext cx="11284823" cy="1138428"/>
            <a:chOff x="438912" y="453390"/>
            <a:chExt cx="11284823" cy="1138428"/>
          </a:xfrm>
        </p:grpSpPr>
        <p:sp>
          <p:nvSpPr>
            <p:cNvPr id="2" name="TextBox 2"/>
            <p:cNvSpPr txBox="1"/>
            <p:nvPr/>
          </p:nvSpPr>
          <p:spPr>
            <a:xfrm>
              <a:off x="448056" y="453390"/>
              <a:ext cx="51261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 / WHY INPUT-HEAVY WORKLOADS BENEFIT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38912" y="887730"/>
              <a:ext cx="11284823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Prefill and decode activate different work</a:t>
              </a:r>
            </a:p>
          </p:txBody>
        </p:sp>
      </p:grpSp>
      <p:grpSp>
        <p:nvGrpSpPr>
          <p:cNvPr id="9" name="Group 9" descr="## [Group 9] PREFILL&#10;input, most full-prefix processing stops at the encoder, with only short local-state work needed in the decoder. The report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b18d963f898952caac0086db9d7cd9eefaf34e642cd544603ce56e0eadc03049" orderSource="geometry" orderIndex="1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PREFILL</p2vs:concise>
                  <p2vs:detailed>input, most full-prefix processing stops at the encoder, with only short local-state work needed in the decoder. The report</p2vs:detailed>
                </p2vs:blockSemantics>
              </a:ext>
            </a:extLst>
          </p:cNvPr>
          <p:cNvGrpSpPr/>
          <p:nvPr/>
        </p:nvGrpSpPr>
        <p:grpSpPr>
          <a:xfrm>
            <a:off x="438150" y="2190750"/>
            <a:ext cx="5314950" cy="2534412"/>
            <a:chOff x="438150" y="2190750"/>
            <a:chExt cx="5314950" cy="2534412"/>
          </a:xfrm>
        </p:grpSpPr>
        <p:sp>
          <p:nvSpPr>
            <p:cNvPr id="5" name="Line 5"/>
            <p:cNvSpPr/>
            <p:nvPr/>
          </p:nvSpPr>
          <p:spPr>
            <a:xfrm>
              <a:off x="457200" y="2190750"/>
              <a:ext cx="5295900" cy="9525"/>
            </a:xfrm>
            <a:custGeom>
              <a:avLst/>
              <a:gdLst/>
              <a:ahLst/>
              <a:cxnLst/>
              <a:rect l="l" t="t" r="r" b="b"/>
              <a:pathLst>
                <a:path w="5295900" h="9525">
                  <a:moveTo>
                    <a:pt x="0" y="0"/>
                  </a:moveTo>
                  <a:lnTo>
                    <a:pt x="5295900" y="0"/>
                  </a:lnTo>
                </a:path>
              </a:pathLst>
            </a:custGeom>
            <a:noFill/>
            <a:ln w="47625">
              <a:solidFill>
                <a:schemeClr val="accent1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448056" y="2472690"/>
              <a:ext cx="94000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PREFILL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38150" y="3032760"/>
              <a:ext cx="1220968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8B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45008" y="4255770"/>
              <a:ext cx="474146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activated parameters / token</a:t>
              </a:r>
            </a:p>
          </p:txBody>
        </p:sp>
      </p:grpSp>
      <p:grpSp>
        <p:nvGrpSpPr>
          <p:cNvPr id="14" name="Group 14" descr="## [Group 14] DECODE&#10;approximates prefill complexity by the encoder half when sequence length is much larger than the local window. This is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573067627fc2d43f40bd33a710ff9cdeb8e87ca2f6e4e38e99a74e1837a5925b" orderSource="geometry" orderIndex="2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DECODE</p2vs:concise>
                  <p2vs:detailed>approximates prefill complexity by the encoder half when sequence length is much larger than the local window. This is</p2vs:detailed>
                </p2vs:blockSemantics>
              </a:ext>
            </a:extLst>
          </p:cNvPr>
          <p:cNvGrpSpPr/>
          <p:nvPr/>
        </p:nvGrpSpPr>
        <p:grpSpPr>
          <a:xfrm>
            <a:off x="6134100" y="2152650"/>
            <a:ext cx="5600700" cy="2857500"/>
            <a:chOff x="6134100" y="2152650"/>
            <a:chExt cx="5600700" cy="2857500"/>
          </a:xfrm>
        </p:grpSpPr>
        <p:sp>
          <p:nvSpPr>
            <p:cNvPr id="10" name="Rectangle 10"/>
            <p:cNvSpPr/>
            <p:nvPr/>
          </p:nvSpPr>
          <p:spPr>
            <a:xfrm>
              <a:off x="6134100" y="2152650"/>
              <a:ext cx="5600700" cy="2857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467856" y="2472690"/>
              <a:ext cx="9144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FFF1F2"/>
                  </a:solidFill>
                  <a:latin typeface="+mn-lt"/>
                  <a:ea typeface="+mn-ea"/>
                  <a:cs typeface="+mn-cs"/>
                </a:rPr>
                <a:t>DECODE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457950" y="3032760"/>
              <a:ext cx="1812402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200" b="1" dirty="0">
                  <a:solidFill>
                    <a:srgbClr val="FFF1F2"/>
                  </a:solidFill>
                  <a:latin typeface="+mn-lt"/>
                  <a:ea typeface="+mn-ea"/>
                  <a:cs typeface="+mn-cs"/>
                </a:rPr>
                <a:t>16B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464808" y="4255770"/>
              <a:ext cx="474146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dirty="0">
                  <a:solidFill>
                    <a:srgbClr val="FFF1F2"/>
                  </a:solidFill>
                  <a:latin typeface="+mn-lt"/>
                  <a:ea typeface="+mn-ea"/>
                  <a:cs typeface="+mn-cs"/>
                </a:rPr>
                <a:t>activated parameters / token</a:t>
              </a:r>
            </a:p>
          </p:txBody>
        </p:sp>
      </p:grpSp>
      <p:grpSp>
        <p:nvGrpSpPr>
          <p:cNvPr id="17" name="Group 17" descr="## [Group 17] Long-prefix work largely stops at the encoder.&#10;especially relevant to input-heavy agents. Activated-parameter counts describe computational structure; they are not a direct measurement of end-to-end latency.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b25d23701e7243365a173efb5271f870333a96859ae324916345284681d5b9da" orderSource="geometry" orderIndex="3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Long-prefix work largely stops at the encoder.</p2vs:concise>
                  <p2vs:detailed>especially relevant to input-heavy agents. Activated-parameter counts describe computational structure; they are not a direct measurement of end-to-end latency.</p2vs:detailed>
                </p2vs:blockSemantics>
              </a:ext>
            </a:extLst>
          </p:cNvPr>
          <p:cNvGrpSpPr/>
          <p:nvPr/>
        </p:nvGrpSpPr>
        <p:grpSpPr>
          <a:xfrm>
            <a:off x="445008" y="5398770"/>
            <a:ext cx="9734415" cy="854964"/>
            <a:chOff x="445008" y="5398770"/>
            <a:chExt cx="9734415" cy="854964"/>
          </a:xfrm>
        </p:grpSpPr>
        <p:sp>
          <p:nvSpPr>
            <p:cNvPr id="15" name="TextBox 15"/>
            <p:cNvSpPr txBox="1"/>
            <p:nvPr/>
          </p:nvSpPr>
          <p:spPr>
            <a:xfrm>
              <a:off x="445008" y="5398770"/>
              <a:ext cx="754736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Long-prefix work largely stops at the encoder.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48056" y="5901690"/>
              <a:ext cx="973136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Applies when context ≫ local window; activation counts are not measured latency.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50342" y="6388418"/>
            <a:ext cx="11291316" cy="264033"/>
            <a:chOff x="450342" y="6388418"/>
            <a:chExt cx="11291316" cy="264033"/>
          </a:xfrm>
        </p:grpSpPr>
        <p:sp>
          <p:nvSpPr>
            <p:cNvPr id="18" name="TextBox 18"/>
            <p:cNvSpPr txBox="1"/>
            <p:nvPr/>
          </p:nvSpPr>
          <p:spPr>
            <a:xfrm>
              <a:off x="450342" y="6388418"/>
              <a:ext cx="28412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Source: report §2.2 and §4.2.1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528031" y="638841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 descr="## [Group 4] 06 / COMPRESSED SPARSE ATTENTION 2&#10;Compressed Sparse Attention Two has three modes. Full computes the main key-value cache, indexer keys, and selected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3819e6016e76a8fc243cb13483e7dc10ed63539de3bcff38c7aec9e5ed8c5f13" orderSource="geometry" orderIndex="0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06 / COMPRESSED SPARSE ATTENTION 2</p2vs:concise>
                  <p2vs:detailed>Compressed Sparse Attention Two has three modes. Full computes the main key-value cache, indexer keys, and selected</p2vs:detailed>
                </p2vs:blockSemantics>
              </a:ext>
            </a:extLst>
          </p:cNvPr>
          <p:cNvGrpSpPr/>
          <p:nvPr/>
        </p:nvGrpSpPr>
        <p:grpSpPr>
          <a:xfrm>
            <a:off x="438912" y="453390"/>
            <a:ext cx="9165603" cy="1157478"/>
            <a:chOff x="438912" y="453390"/>
            <a:chExt cx="9165603" cy="1157478"/>
          </a:xfrm>
        </p:grpSpPr>
        <p:sp>
          <p:nvSpPr>
            <p:cNvPr id="2" name="TextBox 2"/>
            <p:cNvSpPr txBox="1"/>
            <p:nvPr/>
          </p:nvSpPr>
          <p:spPr>
            <a:xfrm>
              <a:off x="448056" y="453390"/>
              <a:ext cx="457565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 / COMPRESSED SPARSE ATTENTION 2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38912" y="906780"/>
              <a:ext cx="9165603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Reuse caches, then selection work</a:t>
              </a:r>
            </a:p>
          </p:txBody>
        </p:sp>
      </p:grpSp>
      <p:grpSp>
        <p:nvGrpSpPr>
          <p:cNvPr id="10" name="Group 10" descr="## [Group 10] Full&#10;indices. Reindex reuses the cache and indexer keys from the most recent Full layer, but selects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5ddbc35f05b91447111904929eb2a70e526864af9d364fda544a618c72ba5ab1" orderSource="geometry" orderIndex="1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Full</p2vs:concise>
                  <p2vs:detailed>indices. Reindex reuses the cache and indexer keys from the most recent Full layer, but selects</p2vs:detailed>
                </p2vs:blockSemantics>
              </a:ext>
            </a:extLst>
          </p:cNvPr>
          <p:cNvGrpSpPr/>
          <p:nvPr/>
        </p:nvGrpSpPr>
        <p:grpSpPr>
          <a:xfrm>
            <a:off x="442722" y="2076450"/>
            <a:ext cx="3386328" cy="2496312"/>
            <a:chOff x="442722" y="2076450"/>
            <a:chExt cx="3386328" cy="2496312"/>
          </a:xfrm>
        </p:grpSpPr>
        <p:sp>
          <p:nvSpPr>
            <p:cNvPr id="5" name="Line 5"/>
            <p:cNvSpPr/>
            <p:nvPr/>
          </p:nvSpPr>
          <p:spPr>
            <a:xfrm>
              <a:off x="457200" y="2076450"/>
              <a:ext cx="3371850" cy="9525"/>
            </a:xfrm>
            <a:custGeom>
              <a:avLst/>
              <a:gdLst/>
              <a:ahLst/>
              <a:cxnLst/>
              <a:rect l="l" t="t" r="r" b="b"/>
              <a:pathLst>
                <a:path w="3371850" h="9525">
                  <a:moveTo>
                    <a:pt x="0" y="0"/>
                  </a:moveTo>
                  <a:lnTo>
                    <a:pt x="3371850" y="0"/>
                  </a:lnTo>
                </a:path>
              </a:pathLst>
            </a:custGeom>
            <a:noFill/>
            <a:ln w="57150">
              <a:solidFill>
                <a:schemeClr val="accent1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442722" y="2473642"/>
              <a:ext cx="79133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Full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45008" y="3227070"/>
              <a:ext cx="241373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Build global KV.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45008" y="3665220"/>
              <a:ext cx="248494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Build indexer K.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45008" y="4103370"/>
              <a:ext cx="220940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Select Top-K.</a:t>
              </a:r>
            </a:p>
          </p:txBody>
        </p:sp>
      </p:grpSp>
      <p:grpSp>
        <p:nvGrpSpPr>
          <p:cNvPr id="16" name="Group 16" descr="## [Group 16] Reindex&#10;fresh indices. Reuse also shares the selected Top-K set from the most recent index-producing layer. These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02a3d80802cffd1157003be6a0969487227338ecde3e873bcba15feb0338f0bc" orderSource="geometry" orderIndex="2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Reindex</p2vs:concise>
                  <p2vs:detailed>fresh indices. Reuse also shares the selected Top-K set from the most recent index-producing layer. These</p2vs:detailed>
                </p2vs:blockSemantics>
              </a:ext>
            </a:extLst>
          </p:cNvPr>
          <p:cNvGrpSpPr/>
          <p:nvPr/>
        </p:nvGrpSpPr>
        <p:grpSpPr>
          <a:xfrm>
            <a:off x="4252722" y="2076450"/>
            <a:ext cx="3386328" cy="2496312"/>
            <a:chOff x="4252722" y="2076450"/>
            <a:chExt cx="3386328" cy="2496312"/>
          </a:xfrm>
        </p:grpSpPr>
        <p:sp>
          <p:nvSpPr>
            <p:cNvPr id="11" name="Line 11"/>
            <p:cNvSpPr/>
            <p:nvPr/>
          </p:nvSpPr>
          <p:spPr>
            <a:xfrm>
              <a:off x="4267200" y="2076450"/>
              <a:ext cx="3371850" cy="9525"/>
            </a:xfrm>
            <a:custGeom>
              <a:avLst/>
              <a:gdLst/>
              <a:ahLst/>
              <a:cxnLst/>
              <a:rect l="l" t="t" r="r" b="b"/>
              <a:pathLst>
                <a:path w="3371850" h="9525">
                  <a:moveTo>
                    <a:pt x="0" y="0"/>
                  </a:moveTo>
                  <a:lnTo>
                    <a:pt x="3371850" y="0"/>
                  </a:lnTo>
                </a:path>
              </a:pathLst>
            </a:custGeom>
            <a:noFill/>
            <a:ln w="57150">
              <a:solidFill>
                <a:schemeClr val="accent1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252722" y="2473642"/>
              <a:ext cx="160821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Reindex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255008" y="3227070"/>
              <a:ext cx="262254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Reuse</a:t>
              </a:r>
              <a:r>
                <a:rPr lang="en-US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global KV.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255008" y="3665220"/>
              <a:ext cx="264789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Reuse indexer K.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255008" y="4103370"/>
              <a:ext cx="319381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Select fresh Top-K.</a:t>
              </a:r>
            </a:p>
          </p:txBody>
        </p:sp>
      </p:grpSp>
      <p:grpSp>
        <p:nvGrpSpPr>
          <p:cNvPr id="22" name="Group 22" descr="## [Group 22] Reuse&#10;are distinct savings: one avoids storing or producing another cache, and the other avoids another selection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542a7826053f67ff5aa8cd1a1de6f122c47cf321b7befcc71d7e48d9e0be23f3" orderSource="geometry" orderIndex="3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Reuse</p2vs:concise>
                  <p2vs:detailed>are distinct savings: one avoids storing or producing another cache, and the other avoids another selection</p2vs:detailed>
                </p2vs:blockSemantics>
              </a:ext>
            </a:extLst>
          </p:cNvPr>
          <p:cNvGrpSpPr/>
          <p:nvPr/>
        </p:nvGrpSpPr>
        <p:grpSpPr>
          <a:xfrm>
            <a:off x="8062722" y="2076450"/>
            <a:ext cx="3672078" cy="2496312"/>
            <a:chOff x="8062722" y="2076450"/>
            <a:chExt cx="3672078" cy="2496312"/>
          </a:xfrm>
        </p:grpSpPr>
        <p:sp>
          <p:nvSpPr>
            <p:cNvPr id="17" name="Line 17"/>
            <p:cNvSpPr/>
            <p:nvPr/>
          </p:nvSpPr>
          <p:spPr>
            <a:xfrm>
              <a:off x="8077200" y="2076450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57150">
              <a:solidFill>
                <a:schemeClr val="accent2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62722" y="2473642"/>
              <a:ext cx="124966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Reuse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065008" y="3227070"/>
              <a:ext cx="257738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Reuse global KV.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065008" y="3665220"/>
              <a:ext cx="264789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Reuse indexer K.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065008" y="4103370"/>
              <a:ext cx="221921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Reuse Top-K.</a:t>
              </a:r>
            </a:p>
          </p:txBody>
        </p:sp>
      </p:grpSp>
      <p:grpSp>
        <p:nvGrpSpPr>
          <p:cNvPr id="29" name="Group 29" descr="## [Group 29] Every mode computes current-layer Q and SWA KV.&#10;pass. All three modes still compute the current layer’s main query and sliding-window keys and values.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3cb483a3acfca9d4402b1c91d39f17ffe9e260be818d2f9954a29288816b790a" orderSource="geometry" orderIndex="4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Every mode computes current-layer Q and SWA KV.</p2vs:concise>
                  <p2vs:detailed>pass. All three modes still compute the current layer’s main query and sliding-window keys and values.</p2vs:detailed>
                </p2vs:blockSemantics>
              </a:ext>
            </a:extLst>
          </p:cNvPr>
          <p:cNvGrpSpPr/>
          <p:nvPr/>
        </p:nvGrpSpPr>
        <p:grpSpPr>
          <a:xfrm>
            <a:off x="457200" y="5105400"/>
            <a:ext cx="11277600" cy="990600"/>
            <a:chOff x="457200" y="5105400"/>
            <a:chExt cx="11277600" cy="990600"/>
          </a:xfrm>
        </p:grpSpPr>
        <p:sp>
          <p:nvSpPr>
            <p:cNvPr id="23" name="Rectangle 23"/>
            <p:cNvSpPr/>
            <p:nvPr/>
          </p:nvSpPr>
          <p:spPr>
            <a:xfrm>
              <a:off x="457200" y="5105400"/>
              <a:ext cx="11277600" cy="990600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800100" y="5448300"/>
              <a:ext cx="304800" cy="304800"/>
              <a:chOff x="800100" y="5448300"/>
              <a:chExt cx="304800" cy="3048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800100" y="5448300"/>
                <a:ext cx="3048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152400">
                    <a:moveTo>
                      <a:pt x="152400" y="0"/>
                    </a:moveTo>
                    <a:lnTo>
                      <a:pt x="0" y="76200"/>
                    </a:lnTo>
                    <a:lnTo>
                      <a:pt x="152400" y="152400"/>
                    </a:lnTo>
                    <a:lnTo>
                      <a:pt x="304800" y="76200"/>
                    </a:lnTo>
                    <a:lnTo>
                      <a:pt x="152400" y="0"/>
                    </a:ln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00100" y="5600700"/>
                <a:ext cx="3048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76200">
                    <a:moveTo>
                      <a:pt x="0" y="0"/>
                    </a:moveTo>
                    <a:lnTo>
                      <a:pt x="152400" y="76200"/>
                    </a:lnTo>
                    <a:lnTo>
                      <a:pt x="304800" y="0"/>
                    </a:ln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800100" y="5676900"/>
                <a:ext cx="3048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76200">
                    <a:moveTo>
                      <a:pt x="0" y="0"/>
                    </a:moveTo>
                    <a:lnTo>
                      <a:pt x="152400" y="76200"/>
                    </a:lnTo>
                    <a:lnTo>
                      <a:pt x="304800" y="0"/>
                    </a:ln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1473708" y="5455920"/>
              <a:ext cx="807154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Every mode computes current-layer Q and SWA KV.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450342" y="6388418"/>
            <a:ext cx="11291316" cy="264033"/>
            <a:chOff x="450342" y="6388418"/>
            <a:chExt cx="11291316" cy="264033"/>
          </a:xfrm>
        </p:grpSpPr>
        <p:sp>
          <p:nvSpPr>
            <p:cNvPr id="30" name="TextBox 30"/>
            <p:cNvSpPr txBox="1"/>
            <p:nvPr/>
          </p:nvSpPr>
          <p:spPr>
            <a:xfrm>
              <a:off x="450342" y="6388418"/>
              <a:ext cx="84036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Source: report §2.3.1 and Figure 4. Reuse refers to preceding cache/index-producing layers.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528031" y="638841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4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4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 descr="## [Group 4] 07 / HIERARCHICAL SPARSE INDEXER&#10;Cache reuse does not by itself make indexing independent of context length.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57d19cae8b28c3fb332adcef987005a6e9bdf086009298e09e66a1ad0887c64e" orderSource="geometry" orderIndex="0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07 / HIERARCHICAL SPARSE INDEXER</p2vs:concise>
                  <p2vs:detailed>Cache reuse does not by itself make indexing independent of context length.</p2vs:detailed>
                </p2vs:blockSemantics>
              </a:ext>
            </a:extLst>
          </p:cNvPr>
          <p:cNvGrpSpPr/>
          <p:nvPr/>
        </p:nvGrpSpPr>
        <p:grpSpPr>
          <a:xfrm>
            <a:off x="438912" y="453390"/>
            <a:ext cx="9970969" cy="1157478"/>
            <a:chOff x="438912" y="453390"/>
            <a:chExt cx="9970969" cy="1157478"/>
          </a:xfrm>
        </p:grpSpPr>
        <p:sp>
          <p:nvSpPr>
            <p:cNvPr id="2" name="TextBox 2"/>
            <p:cNvSpPr txBox="1"/>
            <p:nvPr/>
          </p:nvSpPr>
          <p:spPr>
            <a:xfrm>
              <a:off x="448056" y="453390"/>
              <a:ext cx="407639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07 / HIERARCHICAL SPARSE INDEXER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38912" y="906780"/>
              <a:ext cx="9970969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Bound later searches to a shared pool</a:t>
              </a:r>
            </a:p>
          </p:txBody>
        </p:sp>
      </p:grpSp>
      <p:grpSp>
        <p:nvGrpSpPr>
          <p:cNvPr id="9" name="Group 9" descr="## [Group 9] FIRST FULL LAYER&#10;The hierarchical indexer narrows the work of later decoder layers. The first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028a47556676291a1642fa2349aeea6fce00541a4315d33d0ac49c985f04ebcc" orderSource="geometry" orderIndex="1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FIRST FULL LAYER</p2vs:concise>
                  <p2vs:detailed>The hierarchical indexer narrows the work of later decoder layers. The first</p2vs:detailed>
                </p2vs:blockSemantics>
              </a:ext>
            </a:extLst>
          </p:cNvPr>
          <p:cNvGrpSpPr/>
          <p:nvPr/>
        </p:nvGrpSpPr>
        <p:grpSpPr>
          <a:xfrm>
            <a:off x="442722" y="2339340"/>
            <a:ext cx="2381913" cy="2161794"/>
            <a:chOff x="442722" y="2339340"/>
            <a:chExt cx="2381913" cy="2161794"/>
          </a:xfrm>
        </p:grpSpPr>
        <p:sp>
          <p:nvSpPr>
            <p:cNvPr id="5" name="TextBox 5"/>
            <p:cNvSpPr txBox="1"/>
            <p:nvPr/>
          </p:nvSpPr>
          <p:spPr>
            <a:xfrm>
              <a:off x="448056" y="2339340"/>
              <a:ext cx="20793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FIRST FULL LAYER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42722" y="2987992"/>
              <a:ext cx="186458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Full scan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48056" y="3806190"/>
              <a:ext cx="23765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Rank context blocks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48056" y="4149090"/>
              <a:ext cx="224759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by maximum score.</a:t>
              </a:r>
            </a:p>
          </p:txBody>
        </p:sp>
      </p:grpSp>
      <p:sp>
        <p:nvSpPr>
          <p:cNvPr id="10" name="Freeform 10" descr="## [Freeform 10] Freeform 10&#10;Full decoder layer scans the context and ranks blocks using their maximum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bd0d66289c53d599982fcf658467d58332426b9b8043b238bf4ef6bfad6f486f" orderSource="geometry" orderIndex="2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Freeform 10</p2vs:concise>
                  <p2vs:detailed>Full decoder layer scans the context and ranks blocks using their maximum</p2vs:detailed>
                </p2vs:blockSemantics>
              </a:ext>
            </a:extLst>
          </p:cNvPr>
          <p:cNvSpPr/>
          <p:nvPr/>
        </p:nvSpPr>
        <p:spPr>
          <a:xfrm>
            <a:off x="3714750" y="2819400"/>
            <a:ext cx="952500" cy="552450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16" name="Group 16" descr="## [Group 16] UP TO&#10;index score. Up to two thousand forty-eight blocks, with eight positions each,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1002c673dce4d31f9214516d2e24b74ebeddfad9bdba903e4cd30c6def3b05a1" orderSource="geometry" orderIndex="3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UP TO</p2vs:concise>
                  <p2vs:detailed>index score. Up to two thousand forty-eight blocks, with eight positions each,</p2vs:detailed>
                </p2vs:blockSemantics>
              </a:ext>
            </a:extLst>
          </p:cNvPr>
          <p:cNvGrpSpPr/>
          <p:nvPr/>
        </p:nvGrpSpPr>
        <p:grpSpPr>
          <a:xfrm>
            <a:off x="4933950" y="2114550"/>
            <a:ext cx="3371850" cy="2781300"/>
            <a:chOff x="4933950" y="2114550"/>
            <a:chExt cx="3371850" cy="2781300"/>
          </a:xfrm>
        </p:grpSpPr>
        <p:sp>
          <p:nvSpPr>
            <p:cNvPr id="11" name="Rectangle 11"/>
            <p:cNvSpPr/>
            <p:nvPr/>
          </p:nvSpPr>
          <p:spPr>
            <a:xfrm>
              <a:off x="4933950" y="2114550"/>
              <a:ext cx="3371850" cy="2781300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134356" y="2339340"/>
              <a:ext cx="7095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UP TO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125212" y="2964180"/>
              <a:ext cx="181087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16,384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131308" y="3627120"/>
              <a:ext cx="172059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candidates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134356" y="4358640"/>
              <a:ext cx="305935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2,048 blocks × 8 positions</a:t>
              </a:r>
            </a:p>
          </p:txBody>
        </p:sp>
      </p:grpSp>
      <p:sp>
        <p:nvSpPr>
          <p:cNvPr id="17" name="Freeform 17" descr="## [Freeform 17] Freeform 17&#10;create a pool of sixteen thousand three hundred eighty-four candidates. Later Reindex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2d978579993f5ddcb261eda0d155fe69422e8a14830dda8214ef3a5be41fb1a8" orderSource="geometry" orderIndex="4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Freeform 17</p2vs:concise>
                  <p2vs:detailed>create a pool of sixteen thousand three hundred eighty-four candidates. Later Reindex</p2vs:detailed>
                </p2vs:blockSemantics>
              </a:ext>
            </a:extLst>
          </p:cNvPr>
          <p:cNvSpPr/>
          <p:nvPr/>
        </p:nvSpPr>
        <p:spPr>
          <a:xfrm>
            <a:off x="8572500" y="2819400"/>
            <a:ext cx="952500" cy="552450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21" name="Group 21" descr="## [Group 21] REINDEX&#10;layers select five hundred twelve entries from that pool. Training uses the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04d40bde7f944bef53e0981bd2aac1706884813fd3ca1a09841b920d970c6d73" orderSource="geometry" orderIndex="5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REINDEX</p2vs:concise>
                  <p2vs:detailed>layers select five hundred twelve entries from that pool. Training uses the</p2vs:detailed>
                </p2vs:blockSemantics>
              </a:ext>
            </a:extLst>
          </p:cNvPr>
          <p:cNvGrpSpPr/>
          <p:nvPr/>
        </p:nvGrpSpPr>
        <p:grpSpPr>
          <a:xfrm>
            <a:off x="9772650" y="2339340"/>
            <a:ext cx="1978838" cy="1990344"/>
            <a:chOff x="9772650" y="2339340"/>
            <a:chExt cx="1978838" cy="1990344"/>
          </a:xfrm>
        </p:grpSpPr>
        <p:sp>
          <p:nvSpPr>
            <p:cNvPr id="18" name="TextBox 18"/>
            <p:cNvSpPr txBox="1"/>
            <p:nvPr/>
          </p:nvSpPr>
          <p:spPr>
            <a:xfrm>
              <a:off x="9782556" y="2339340"/>
              <a:ext cx="94000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REINDEX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772650" y="2708910"/>
              <a:ext cx="1717350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512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782556" y="3977640"/>
              <a:ext cx="19689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selected entries</a:t>
              </a:r>
            </a:p>
          </p:txBody>
        </p:sp>
      </p:grpSp>
      <p:grpSp>
        <p:nvGrpSpPr>
          <p:cNvPr id="25" name="Group 25" descr="## [Group 25] The first scan still sees the full context.&#10;same restriction. The first scan still depends on full context length.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92e7d050a29ac9833e5a490b52739f97cbaeeb0a26b691f97f3f09e365b4836a" orderSource="geometry" orderIndex="6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The first scan still sees the full context.</p2vs:concise>
                  <p2vs:detailed>same restriction. The first scan still depends on full context length.</p2vs:detailed>
                </p2vs:blockSemantics>
              </a:ext>
            </a:extLst>
          </p:cNvPr>
          <p:cNvGrpSpPr/>
          <p:nvPr/>
        </p:nvGrpSpPr>
        <p:grpSpPr>
          <a:xfrm>
            <a:off x="445008" y="5334000"/>
            <a:ext cx="11289792" cy="976884"/>
            <a:chOff x="445008" y="5334000"/>
            <a:chExt cx="11289792" cy="976884"/>
          </a:xfrm>
        </p:grpSpPr>
        <p:sp>
          <p:nvSpPr>
            <p:cNvPr id="22" name="Line 22"/>
            <p:cNvSpPr/>
            <p:nvPr/>
          </p:nvSpPr>
          <p:spPr>
            <a:xfrm>
              <a:off x="457200" y="53340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45008" y="5551170"/>
              <a:ext cx="662603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The first scan still sees the full context.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48056" y="5958840"/>
              <a:ext cx="824068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The same candidate restriction is used during training and inference.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450342" y="6388418"/>
            <a:ext cx="11291316" cy="264033"/>
            <a:chOff x="450342" y="6388418"/>
            <a:chExt cx="11291316" cy="264033"/>
          </a:xfrm>
        </p:grpSpPr>
        <p:sp>
          <p:nvSpPr>
            <p:cNvPr id="26" name="TextBox 26"/>
            <p:cNvSpPr txBox="1"/>
            <p:nvPr/>
          </p:nvSpPr>
          <p:spPr>
            <a:xfrm>
              <a:off x="450342" y="6388418"/>
              <a:ext cx="40152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Source: report §2.3.2, Figure 5, and §4.2.1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528031" y="638841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 descr="## [Group 4] 08 / SELECTIVE CACHE PRECISION&#10;The next saving comes from precision. Main cache values use the E2M1 four-bit format, with one E4M3 scale per sixteen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9d5df1e43e80a46dd757a60ce16d893e0826ae5d14abec21757d883725ef54df" orderSource="geometry" orderIndex="0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08 / SELECTIVE CACHE PRECISION</p2vs:concise>
                  <p2vs:detailed>The next saving comes from precision. Main cache values use the E2M1 four-bit format, with one E4M3 scale per sixteen</p2vs:detailed>
                </p2vs:blockSemantics>
              </a:ext>
            </a:extLst>
          </p:cNvPr>
          <p:cNvGrpSpPr/>
          <p:nvPr/>
        </p:nvGrpSpPr>
        <p:grpSpPr>
          <a:xfrm>
            <a:off x="438912" y="453390"/>
            <a:ext cx="9804488" cy="1157478"/>
            <a:chOff x="438912" y="453390"/>
            <a:chExt cx="9804488" cy="1157478"/>
          </a:xfrm>
        </p:grpSpPr>
        <p:sp>
          <p:nvSpPr>
            <p:cNvPr id="2" name="TextBox 2"/>
            <p:cNvSpPr txBox="1"/>
            <p:nvPr/>
          </p:nvSpPr>
          <p:spPr>
            <a:xfrm>
              <a:off x="448056" y="453390"/>
              <a:ext cx="38459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08 / SELECTIVE CACHE PRECISION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38912" y="906780"/>
              <a:ext cx="980448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Quantize the global cache selectively</a:t>
              </a:r>
            </a:p>
          </p:txBody>
        </p:sp>
      </p:grpSp>
      <p:grpSp>
        <p:nvGrpSpPr>
          <p:cNvPr id="10" name="Group 10" descr="## [Group 10] MAIN KV CACHE&#10;channels. Values are quantized after rotary position encoding and dequantized before attention. Quantization-aware training is introduced during post-training to reduce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5d3ebe515cc2e28e38a30ca8563d4b103718a64557541027b3eb7586c5ff4631" orderSource="geometry" orderIndex="1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MAIN KV CACHE</p2vs:concise>
                  <p2vs:detailed>channels. Values are quantized after rotary position encoding and dequantized before attention. Quantization-aware training is introduced during post-training to reduce</p2vs:detailed>
                </p2vs:blockSemantics>
              </a:ext>
            </a:extLst>
          </p:cNvPr>
          <p:cNvGrpSpPr/>
          <p:nvPr/>
        </p:nvGrpSpPr>
        <p:grpSpPr>
          <a:xfrm>
            <a:off x="438150" y="2057400"/>
            <a:ext cx="6915150" cy="2824734"/>
            <a:chOff x="438150" y="2057400"/>
            <a:chExt cx="6915150" cy="2824734"/>
          </a:xfrm>
        </p:grpSpPr>
        <p:sp>
          <p:nvSpPr>
            <p:cNvPr id="5" name="Line 5"/>
            <p:cNvSpPr/>
            <p:nvPr/>
          </p:nvSpPr>
          <p:spPr>
            <a:xfrm>
              <a:off x="457200" y="2057400"/>
              <a:ext cx="6896100" cy="9525"/>
            </a:xfrm>
            <a:custGeom>
              <a:avLst/>
              <a:gdLst/>
              <a:ahLst/>
              <a:cxnLst/>
              <a:rect l="l" t="t" r="r" b="b"/>
              <a:pathLst>
                <a:path w="6896100" h="9525">
                  <a:moveTo>
                    <a:pt x="0" y="0"/>
                  </a:moveTo>
                  <a:lnTo>
                    <a:pt x="6896100" y="0"/>
                  </a:lnTo>
                </a:path>
              </a:pathLst>
            </a:custGeom>
            <a:noFill/>
            <a:ln w="47625">
              <a:solidFill>
                <a:schemeClr val="accent1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448056" y="2339340"/>
              <a:ext cx="170809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MAIN KV CACHE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38150" y="2823210"/>
              <a:ext cx="1812402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FP4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45008" y="4008120"/>
              <a:ext cx="190842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E2M1 values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48056" y="4530090"/>
              <a:ext cx="371906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One E4M3 scale per 16 channels</a:t>
              </a:r>
            </a:p>
          </p:txBody>
        </p:sp>
      </p:grpSp>
      <p:grpSp>
        <p:nvGrpSpPr>
          <p:cNvPr id="16" name="Group 16" descr="## [Group 16] SLIDING-WINDOW KV&#10;the quality impact. The choice is selective: sliding-window keys and values stay in FP8 because that state is sensitive to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4585bee108b68ca03d63c15ca0c1fb740e4d695a2601d84998c3ca9d2efdf2e6" orderSource="geometry" orderIndex="2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SLIDING-WINDOW KV</p2vs:concise>
                  <p2vs:detailed>the quality impact. The choice is selective: sliding-window keys and values stay in FP8 because that state is sensitive to</p2vs:detailed>
                </p2vs:blockSemantics>
              </a:ext>
            </a:extLst>
          </p:cNvPr>
          <p:cNvGrpSpPr/>
          <p:nvPr/>
        </p:nvGrpSpPr>
        <p:grpSpPr>
          <a:xfrm>
            <a:off x="7848600" y="2019300"/>
            <a:ext cx="3886200" cy="2838450"/>
            <a:chOff x="7848600" y="2019300"/>
            <a:chExt cx="3886200" cy="2838450"/>
          </a:xfrm>
        </p:grpSpPr>
        <p:sp>
          <p:nvSpPr>
            <p:cNvPr id="11" name="Rectangle 11"/>
            <p:cNvSpPr/>
            <p:nvPr/>
          </p:nvSpPr>
          <p:spPr>
            <a:xfrm>
              <a:off x="7848600" y="2019300"/>
              <a:ext cx="3886200" cy="2838450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106156" y="2339340"/>
              <a:ext cx="23097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SLIDING-WINDOW KV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096250" y="2823210"/>
              <a:ext cx="1812402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FP8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106156" y="4034790"/>
              <a:ext cx="312791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Retained for state that is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106156" y="4396740"/>
              <a:ext cx="311993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sensitive to quantization.</a:t>
              </a:r>
            </a:p>
          </p:txBody>
        </p:sp>
      </p:grpSp>
      <p:grpSp>
        <p:nvGrpSpPr>
          <p:cNvPr id="19" name="Group 19" descr="## [Group 19] Quantize&#10;quantization. The lesson is to compress according to a component’s tolerance, rather than force one format onto every cache.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6b516104f12561c6ba189eedf716697c947da5033dfee11d2afd92c5fdbc9de7" orderSource="geometry" orderIndex="3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Quantize</p2vs:concise>
                  <p2vs:detailed>quantization. The lesson is to compress according to a component’s tolerance, rather than force one format onto every cache.</p2vs:detailed>
                </p2vs:blockSemantics>
              </a:ext>
            </a:extLst>
          </p:cNvPr>
          <p:cNvGrpSpPr/>
          <p:nvPr/>
        </p:nvGrpSpPr>
        <p:grpSpPr>
          <a:xfrm>
            <a:off x="445008" y="5303520"/>
            <a:ext cx="8422058" cy="912114"/>
            <a:chOff x="445008" y="5303520"/>
            <a:chExt cx="8422058" cy="912114"/>
          </a:xfrm>
        </p:grpSpPr>
        <p:sp>
          <p:nvSpPr>
            <p:cNvPr id="17" name="TextBox 17"/>
            <p:cNvSpPr txBox="1"/>
            <p:nvPr/>
          </p:nvSpPr>
          <p:spPr>
            <a:xfrm>
              <a:off x="445008" y="5303520"/>
              <a:ext cx="842205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Quantize 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after RoPE</a:t>
              </a:r>
              <a:r>
                <a:rPr lang="en-US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; dequantize </a:t>
              </a:r>
              <a:r>
                <a:rPr lang="en-US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before attention.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48056" y="5863590"/>
              <a:ext cx="685949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Quantization-aware training begins during post-training.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50342" y="6388418"/>
            <a:ext cx="11291316" cy="264033"/>
            <a:chOff x="450342" y="6388418"/>
            <a:chExt cx="11291316" cy="264033"/>
          </a:xfrm>
        </p:grpSpPr>
        <p:sp>
          <p:nvSpPr>
            <p:cNvPr id="20" name="TextBox 20"/>
            <p:cNvSpPr txBox="1"/>
            <p:nvPr/>
          </p:nvSpPr>
          <p:spPr>
            <a:xfrm>
              <a:off x="450342" y="6388418"/>
              <a:ext cx="20313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Source: report §2.4.4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528031" y="638841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 descr="## [Group 5] 09 / SWA BOUNDED REPLAY&#10;Bounded replay targets persistent prefix storage. Instead of saving every layer’s sliding-window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ca46f14ed8cc6cfc2f2e1faff3ccdf643e6fbffa42b59ebbc86ee96d075272fa" orderSource="geometry" orderIndex="0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09 / SWA BOUNDED REPLAY</p2vs:concise>
                  <p2vs:detailed>Bounded replay targets persistent prefix storage. Instead of saving every layer’s sliding-window</p2vs:detailed>
                </p2vs:blockSemantics>
              </a:ext>
            </a:extLst>
          </p:cNvPr>
          <p:cNvGrpSpPr/>
          <p:nvPr/>
        </p:nvGrpSpPr>
        <p:grpSpPr>
          <a:xfrm>
            <a:off x="438912" y="434340"/>
            <a:ext cx="7644567" cy="1690878"/>
            <a:chOff x="438912" y="434340"/>
            <a:chExt cx="7644567" cy="1690878"/>
          </a:xfrm>
        </p:grpSpPr>
        <p:sp>
          <p:nvSpPr>
            <p:cNvPr id="2" name="TextBox 2"/>
            <p:cNvSpPr txBox="1"/>
            <p:nvPr/>
          </p:nvSpPr>
          <p:spPr>
            <a:xfrm>
              <a:off x="448056" y="434340"/>
              <a:ext cx="31034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09 / SWA BOUNDED REPLAY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38912" y="849630"/>
              <a:ext cx="488671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Persist global KV;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38912" y="1421130"/>
              <a:ext cx="7644567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replay the recent 128 tokens</a:t>
              </a:r>
            </a:p>
          </p:txBody>
        </p:sp>
      </p:grpSp>
      <p:grpSp>
        <p:nvGrpSpPr>
          <p:cNvPr id="13" name="Group 13" descr="## [Group 13] Global KV&#10;state, the system persists global key-value information and reconstructs local state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63f5bcc2dced75d51d6df2f86924bc071b013430c40bfc3b5f66894e488f4223" orderSource="geometry" orderIndex="1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Global KV</p2vs:concise>
                  <p2vs:detailed>state, the system persists global key-value information and reconstructs local state</p2vs:detailed>
                </p2vs:blockSemantics>
              </a:ext>
            </a:extLst>
          </p:cNvPr>
          <p:cNvGrpSpPr/>
          <p:nvPr/>
        </p:nvGrpSpPr>
        <p:grpSpPr>
          <a:xfrm>
            <a:off x="442722" y="2609850"/>
            <a:ext cx="2381913" cy="2196084"/>
            <a:chOff x="442722" y="2609850"/>
            <a:chExt cx="2381913" cy="2196084"/>
          </a:xfrm>
        </p:grpSpPr>
        <p:grpSp>
          <p:nvGrpSpPr>
            <p:cNvPr id="9" name="Group 9"/>
            <p:cNvGrpSpPr/>
            <p:nvPr/>
          </p:nvGrpSpPr>
          <p:grpSpPr>
            <a:xfrm>
              <a:off x="533400" y="2609850"/>
              <a:ext cx="304800" cy="342900"/>
              <a:chOff x="533400" y="2609850"/>
              <a:chExt cx="304800" cy="3429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533400" y="2609850"/>
                <a:ext cx="3048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114300">
                    <a:moveTo>
                      <a:pt x="0" y="57150"/>
                    </a:moveTo>
                    <a:cubicBezTo>
                      <a:pt x="0" y="88713"/>
                      <a:pt x="68232" y="114300"/>
                      <a:pt x="152400" y="114300"/>
                    </a:cubicBezTo>
                    <a:cubicBezTo>
                      <a:pt x="236568" y="114300"/>
                      <a:pt x="304800" y="88713"/>
                      <a:pt x="304800" y="57150"/>
                    </a:cubicBezTo>
                    <a:cubicBezTo>
                      <a:pt x="304800" y="25587"/>
                      <a:pt x="236568" y="0"/>
                      <a:pt x="152400" y="0"/>
                    </a:cubicBezTo>
                    <a:cubicBezTo>
                      <a:pt x="68232" y="0"/>
                      <a:pt x="0" y="25587"/>
                      <a:pt x="0" y="57150"/>
                    </a:cubicBez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533400" y="2667000"/>
                <a:ext cx="3048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171450">
                    <a:moveTo>
                      <a:pt x="0" y="0"/>
                    </a:moveTo>
                    <a:lnTo>
                      <a:pt x="0" y="114300"/>
                    </a:lnTo>
                    <a:cubicBezTo>
                      <a:pt x="0" y="145863"/>
                      <a:pt x="68232" y="171450"/>
                      <a:pt x="152400" y="171450"/>
                    </a:cubicBezTo>
                    <a:cubicBezTo>
                      <a:pt x="236568" y="171450"/>
                      <a:pt x="304800" y="145863"/>
                      <a:pt x="304800" y="114300"/>
                    </a:cubicBezTo>
                    <a:lnTo>
                      <a:pt x="304800" y="0"/>
                    </a:ln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533400" y="2781300"/>
                <a:ext cx="3048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171450">
                    <a:moveTo>
                      <a:pt x="0" y="0"/>
                    </a:moveTo>
                    <a:lnTo>
                      <a:pt x="0" y="114300"/>
                    </a:lnTo>
                    <a:cubicBezTo>
                      <a:pt x="0" y="145863"/>
                      <a:pt x="68232" y="171450"/>
                      <a:pt x="152400" y="171450"/>
                    </a:cubicBezTo>
                    <a:cubicBezTo>
                      <a:pt x="236568" y="171450"/>
                      <a:pt x="304800" y="145863"/>
                      <a:pt x="304800" y="114300"/>
                    </a:cubicBezTo>
                    <a:lnTo>
                      <a:pt x="304800" y="0"/>
                    </a:ln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</p:grpSp>
        <p:sp>
          <p:nvSpPr>
            <p:cNvPr id="10" name="TextBox 10"/>
            <p:cNvSpPr txBox="1"/>
            <p:nvPr/>
          </p:nvSpPr>
          <p:spPr>
            <a:xfrm>
              <a:off x="442722" y="3330892"/>
              <a:ext cx="196035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Global KV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48056" y="4091940"/>
              <a:ext cx="23765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Load the persistent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48056" y="4453890"/>
              <a:ext cx="162968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prefix cache.</a:t>
              </a:r>
            </a:p>
          </p:txBody>
        </p:sp>
      </p:grpSp>
      <p:sp>
        <p:nvSpPr>
          <p:cNvPr id="14" name="Freeform 14" descr="## [Freeform 14] Freeform 14&#10;from the most recent one hundred twenty-eight tokens. This is shorter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4c529c8cadee3d9054bce61d7050a30720a44c0f3ad5cfcec46861e0e05a9bf7" orderSource="geometry" orderIndex="2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Freeform 14</p2vs:concise>
                  <p2vs:detailed>from the most recent one hundred twenty-eight tokens. This is shorter</p2vs:detailed>
                </p2vs:blockSemantics>
              </a:ext>
            </a:extLst>
          </p:cNvPr>
          <p:cNvSpPr/>
          <p:nvPr/>
        </p:nvSpPr>
        <p:spPr>
          <a:xfrm>
            <a:off x="3429000" y="3181350"/>
            <a:ext cx="990600" cy="552450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19" name="Group 19" descr="## [Group 19] REPLAY&#10;than exact reconstruction of the layered receptive field, so it is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19683f5a9eace2f9fc7ce7e17a820439493de4ac2d17c2099fb592a0a99fbb0c" orderSource="geometry" orderIndex="3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REPLAY</p2vs:concise>
                  <p2vs:detailed>than exact reconstruction of the layered receptive field, so it is</p2vs:detailed>
                </p2vs:blockSemantics>
              </a:ext>
            </a:extLst>
          </p:cNvPr>
          <p:cNvGrpSpPr/>
          <p:nvPr/>
        </p:nvGrpSpPr>
        <p:grpSpPr>
          <a:xfrm>
            <a:off x="4686300" y="2419350"/>
            <a:ext cx="3295650" cy="2533650"/>
            <a:chOff x="4686300" y="2419350"/>
            <a:chExt cx="3295650" cy="2533650"/>
          </a:xfrm>
        </p:grpSpPr>
        <p:sp>
          <p:nvSpPr>
            <p:cNvPr id="15" name="Rectangle 15"/>
            <p:cNvSpPr/>
            <p:nvPr/>
          </p:nvSpPr>
          <p:spPr>
            <a:xfrm>
              <a:off x="4686300" y="2419350"/>
              <a:ext cx="3295650" cy="2533650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943856" y="2758440"/>
              <a:ext cx="86319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REPLAY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933950" y="3166110"/>
              <a:ext cx="1717350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128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943856" y="4415790"/>
              <a:ext cx="23445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most recent tokens</a:t>
              </a:r>
            </a:p>
          </p:txBody>
        </p:sp>
      </p:grpSp>
      <p:sp>
        <p:nvSpPr>
          <p:cNvPr id="20" name="Freeform 20" descr="## [Freeform 20] Freeform 20&#10;approximate. Its behavior also depends on where the cache hit occurs.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7ff2c366c30aac3295165c7ce3f96e43d424122047c2069bdc623fd4dd31fb34" orderSource="geometry" orderIndex="4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Freeform 20</p2vs:concise>
                  <p2vs:detailed>approximate. Its behavior also depends on where the cache hit occurs.</p2vs:detailed>
                </p2vs:blockSemantics>
              </a:ext>
            </a:extLst>
          </p:cNvPr>
          <p:cNvSpPr/>
          <p:nvPr/>
        </p:nvSpPr>
        <p:spPr>
          <a:xfrm>
            <a:off x="8248650" y="3181350"/>
            <a:ext cx="990600" cy="552450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27" name="Group 27" descr="## [Group 27] Local SWA&#10;The authors report negligible response-quality degradation. This mechanism helps explain why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528cc1df15da313a13f9456f901aa1c122564cdc628930d0bffe08a98fb7da48" orderSource="geometry" orderIndex="5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Local SWA</p2vs:concise>
                  <p2vs:detailed>The authors report negligible response-quality degradation. This mechanism helps explain why</p2vs:detailed>
                </p2vs:blockSemantics>
              </a:ext>
            </a:extLst>
          </p:cNvPr>
          <p:cNvGrpSpPr/>
          <p:nvPr/>
        </p:nvGrpSpPr>
        <p:grpSpPr>
          <a:xfrm>
            <a:off x="9491472" y="2621550"/>
            <a:ext cx="2220310" cy="2184384"/>
            <a:chOff x="9491472" y="2621550"/>
            <a:chExt cx="2220310" cy="2184384"/>
          </a:xfrm>
        </p:grpSpPr>
        <p:grpSp>
          <p:nvGrpSpPr>
            <p:cNvPr id="23" name="Group 23"/>
            <p:cNvGrpSpPr/>
            <p:nvPr/>
          </p:nvGrpSpPr>
          <p:grpSpPr>
            <a:xfrm>
              <a:off x="9582150" y="2621550"/>
              <a:ext cx="304800" cy="319500"/>
              <a:chOff x="9582150" y="2621550"/>
              <a:chExt cx="304800" cy="3195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9582150" y="2621550"/>
                <a:ext cx="304800" cy="14070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140700">
                    <a:moveTo>
                      <a:pt x="304800" y="140700"/>
                    </a:moveTo>
                    <a:cubicBezTo>
                      <a:pt x="295223" y="71787"/>
                      <a:pt x="240713" y="17807"/>
                      <a:pt x="171710" y="8904"/>
                    </a:cubicBezTo>
                    <a:cubicBezTo>
                      <a:pt x="102708" y="0"/>
                      <a:pt x="36281" y="38375"/>
                      <a:pt x="9525" y="102600"/>
                    </a:cubicBezTo>
                    <a:moveTo>
                      <a:pt x="0" y="26400"/>
                    </a:moveTo>
                    <a:lnTo>
                      <a:pt x="0" y="102600"/>
                    </a:lnTo>
                    <a:lnTo>
                      <a:pt x="76200" y="102600"/>
                    </a:ln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9582150" y="2800350"/>
                <a:ext cx="304800" cy="14070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140700">
                    <a:moveTo>
                      <a:pt x="0" y="0"/>
                    </a:moveTo>
                    <a:cubicBezTo>
                      <a:pt x="9577" y="68913"/>
                      <a:pt x="64087" y="122893"/>
                      <a:pt x="133090" y="131796"/>
                    </a:cubicBezTo>
                    <a:cubicBezTo>
                      <a:pt x="202092" y="140700"/>
                      <a:pt x="268519" y="102325"/>
                      <a:pt x="295275" y="38100"/>
                    </a:cubicBezTo>
                    <a:moveTo>
                      <a:pt x="304800" y="114300"/>
                    </a:moveTo>
                    <a:lnTo>
                      <a:pt x="304800" y="38100"/>
                    </a:lnTo>
                    <a:lnTo>
                      <a:pt x="228600" y="38100"/>
                    </a:ln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9491472" y="3330892"/>
              <a:ext cx="222031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Local SWA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96806" y="4091940"/>
              <a:ext cx="17103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Rebuild state.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96806" y="4453890"/>
              <a:ext cx="208630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Resume decoding.</a:t>
              </a:r>
            </a:p>
          </p:txBody>
        </p:sp>
      </p:grpSp>
      <p:grpSp>
        <p:nvGrpSpPr>
          <p:cNvPr id="31" name="Group 31" descr="## [Group 31] Approximate replay.&#10;persistent-cache savings are larger than the reduction in global cache alone.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d8dc860899b3939a97c636aa434b06dbd9114d38ffe5e08f98ee21ed8c8c0807" orderSource="geometry" orderIndex="6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Approximate replay.</p2vs:concise>
                  <p2vs:detailed>persistent-cache savings are larger than the reduction in global cache alone.</p2vs:detailed>
                </p2vs:blockSemantics>
              </a:ext>
            </a:extLst>
          </p:cNvPr>
          <p:cNvGrpSpPr/>
          <p:nvPr/>
        </p:nvGrpSpPr>
        <p:grpSpPr>
          <a:xfrm>
            <a:off x="445008" y="5372100"/>
            <a:ext cx="11289792" cy="938784"/>
            <a:chOff x="445008" y="5372100"/>
            <a:chExt cx="11289792" cy="938784"/>
          </a:xfrm>
        </p:grpSpPr>
        <p:sp>
          <p:nvSpPr>
            <p:cNvPr id="28" name="Line 28"/>
            <p:cNvSpPr/>
            <p:nvPr/>
          </p:nvSpPr>
          <p:spPr>
            <a:xfrm>
              <a:off x="457200" y="53721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45008" y="5551170"/>
              <a:ext cx="959214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Approximate replay.</a:t>
              </a:r>
              <a:r>
                <a:rPr lang="en-US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Quality depends on cache-hit position.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48056" y="5958840"/>
              <a:ext cx="98601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SWA KV is omitted from persistent storage; authors report negligible quality loss.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450342" y="6388418"/>
            <a:ext cx="11291316" cy="264033"/>
            <a:chOff x="450342" y="6388418"/>
            <a:chExt cx="11291316" cy="264033"/>
          </a:xfrm>
        </p:grpSpPr>
        <p:sp>
          <p:nvSpPr>
            <p:cNvPr id="32" name="TextBox 32"/>
            <p:cNvSpPr txBox="1"/>
            <p:nvPr/>
          </p:nvSpPr>
          <p:spPr>
            <a:xfrm>
              <a:off x="450342" y="6388418"/>
              <a:ext cx="20313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Source: report §3.2.2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528031" y="638841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 descr="## [Group 4] 10 / BEFORE READING THE RESULTS&#10;Before interpreting results, establish the settings. Pretraining uses forty-five trillion multimodal tokens. Context starts at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0ee473a996a1f40d29153d51a3169e7ae2b42c0d5ba09853057917b00f405188" orderSource="geometry" orderIndex="0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10 / BEFORE READING THE RESULTS</p2vs:concise>
                  <p2vs:detailed>Before interpreting results, establish the settings. Pretraining uses forty-five trillion multimodal tokens. Context starts at</p2vs:detailed>
                </p2vs:blockSemantics>
              </a:ext>
            </a:extLst>
          </p:cNvPr>
          <p:cNvGrpSpPr/>
          <p:nvPr/>
        </p:nvGrpSpPr>
        <p:grpSpPr>
          <a:xfrm>
            <a:off x="438912" y="453390"/>
            <a:ext cx="11149628" cy="1157478"/>
            <a:chOff x="438912" y="453390"/>
            <a:chExt cx="11149628" cy="1157478"/>
          </a:xfrm>
        </p:grpSpPr>
        <p:sp>
          <p:nvSpPr>
            <p:cNvPr id="2" name="TextBox 2"/>
            <p:cNvSpPr txBox="1"/>
            <p:nvPr/>
          </p:nvSpPr>
          <p:spPr>
            <a:xfrm>
              <a:off x="448056" y="453390"/>
              <a:ext cx="40507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 / BEFORE READING THE RESULTS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38912" y="906780"/>
              <a:ext cx="1114962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Read capability scores with their settings</a:t>
              </a:r>
            </a:p>
          </p:txBody>
        </p:sp>
      </p:grpSp>
      <p:grpSp>
        <p:nvGrpSpPr>
          <p:cNvPr id="10" name="Group 10" descr="## [Group 10] 45T&#10;sixty-four thousand and extends to one million at thirty-four trillion training tokens. The model then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742c47b7ea77278070ff7f67760e3dd3732ce7eec9f5497c1b0eacb206da2e40" orderSource="geometry" orderIndex="1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45T</p2vs:concise>
                  <p2vs:detailed>sixty-four thousand and extends to one million at thirty-four trillion training tokens. The model then</p2vs:detailed>
                </p2vs:blockSemantics>
              </a:ext>
            </a:extLst>
          </p:cNvPr>
          <p:cNvGrpSpPr/>
          <p:nvPr/>
        </p:nvGrpSpPr>
        <p:grpSpPr>
          <a:xfrm>
            <a:off x="438150" y="2556510"/>
            <a:ext cx="3676650" cy="2839974"/>
            <a:chOff x="438150" y="2556510"/>
            <a:chExt cx="3676650" cy="2839974"/>
          </a:xfrm>
        </p:grpSpPr>
        <p:sp>
          <p:nvSpPr>
            <p:cNvPr id="5" name="TextBox 5"/>
            <p:cNvSpPr txBox="1"/>
            <p:nvPr/>
          </p:nvSpPr>
          <p:spPr>
            <a:xfrm>
              <a:off x="438150" y="2556510"/>
              <a:ext cx="1812402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45T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45008" y="3684270"/>
              <a:ext cx="285140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multimodal tokens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457200" y="4362450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448056" y="4682490"/>
              <a:ext cx="27759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Pretraining followed by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48056" y="5044440"/>
              <a:ext cx="30409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SFT, RL, and distillation.</a:t>
              </a:r>
            </a:p>
          </p:txBody>
        </p:sp>
      </p:grpSp>
      <p:grpSp>
        <p:nvGrpSpPr>
          <p:cNvPr id="13" name="Group 13" descr="## [Group 13] Context: 64K to 1M&#10;receives supervised fine-tuning, reinforcement learning, and final on-policy distillation. The featured agent scores use maximum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d1cea6870c72646b4149f5809870546c4a55b6cecef8d30b42207a2a44752c2e" orderSource="geometry" orderIndex="2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Context: 64K to 1M</p2vs:concise>
                  <p2vs:detailed>receives supervised fine-tuning, reinforcement learning, and final on-policy distillation. The featured agent scores use maximum</p2vs:detailed>
                </p2vs:blockSemantics>
              </a:ext>
            </a:extLst>
          </p:cNvPr>
          <p:cNvGrpSpPr/>
          <p:nvPr/>
        </p:nvGrpSpPr>
        <p:grpSpPr>
          <a:xfrm>
            <a:off x="4921758" y="2160270"/>
            <a:ext cx="5560771" cy="912114"/>
            <a:chOff x="4921758" y="2160270"/>
            <a:chExt cx="5560771" cy="912114"/>
          </a:xfrm>
        </p:grpSpPr>
        <p:sp>
          <p:nvSpPr>
            <p:cNvPr id="11" name="TextBox 11"/>
            <p:cNvSpPr txBox="1"/>
            <p:nvPr/>
          </p:nvSpPr>
          <p:spPr>
            <a:xfrm>
              <a:off x="4921758" y="2160270"/>
              <a:ext cx="32452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Context: 64K to 1M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924806" y="2720340"/>
              <a:ext cx="555772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Extension to 1M begins at 34T training tokens.</a:t>
              </a:r>
            </a:p>
          </p:txBody>
        </p:sp>
      </p:grpSp>
      <p:grpSp>
        <p:nvGrpSpPr>
          <p:cNvPr id="16" name="Group 16" descr="## [Group 16] Featured results: Max reasoning effort&#10;reasoning effort. DeepSWE uses mini-SWE, while Terminal Bench uses DeepSeek Harness Minimal with a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74e21a92b4a758580ede9404623554b6e8360cab4bb33d0eddd8309e215c399f" orderSource="geometry" orderIndex="3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Featured results: Max reasoning effort</p2vs:concise>
                  <p2vs:detailed>reasoning effort. DeepSWE uses mini-SWE, while Terminal Bench uses DeepSeek Harness Minimal with a</p2vs:detailed>
                </p2vs:blockSemantics>
              </a:ext>
            </a:extLst>
          </p:cNvPr>
          <p:cNvGrpSpPr/>
          <p:nvPr/>
        </p:nvGrpSpPr>
        <p:grpSpPr>
          <a:xfrm>
            <a:off x="4921758" y="3505200"/>
            <a:ext cx="6813042" cy="724662"/>
            <a:chOff x="4921758" y="3505200"/>
            <a:chExt cx="6813042" cy="724662"/>
          </a:xfrm>
        </p:grpSpPr>
        <p:sp>
          <p:nvSpPr>
            <p:cNvPr id="14" name="Line 14"/>
            <p:cNvSpPr/>
            <p:nvPr/>
          </p:nvSpPr>
          <p:spPr>
            <a:xfrm>
              <a:off x="4933950" y="3505200"/>
              <a:ext cx="6800850" cy="9525"/>
            </a:xfrm>
            <a:custGeom>
              <a:avLst/>
              <a:gdLst/>
              <a:ahLst/>
              <a:cxnLst/>
              <a:rect l="l" t="t" r="r" b="b"/>
              <a:pathLst>
                <a:path w="6800850" h="9525">
                  <a:moveTo>
                    <a:pt x="0" y="0"/>
                  </a:moveTo>
                  <a:lnTo>
                    <a:pt x="680085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921758" y="3760470"/>
              <a:ext cx="669634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Featured results: Max reasoning effort</a:t>
              </a:r>
            </a:p>
          </p:txBody>
        </p:sp>
      </p:grpSp>
      <p:grpSp>
        <p:nvGrpSpPr>
          <p:cNvPr id="21" name="Group 21" descr="## [Group 21] DeepSWE v1.1: mini-SWE&#10;one-million-token context. Harness and effort are part of the comparison, not incidental implementation details.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ed6131e36d6ff94fefe6ae240b4b16fffe859c909ecd83b6ce0ee415371479d6" orderSource="geometry" orderIndex="4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DeepSWE v1.1: mini-SWE</p2vs:concise>
                  <p2vs:detailed>one-million-token context. Harness and effort are part of the comparison, not incidental implementation details.</p2vs:detailed>
                </p2vs:blockSemantics>
              </a:ext>
            </a:extLst>
          </p:cNvPr>
          <p:cNvGrpSpPr/>
          <p:nvPr/>
        </p:nvGrpSpPr>
        <p:grpSpPr>
          <a:xfrm>
            <a:off x="4924806" y="4610100"/>
            <a:ext cx="6809994" cy="1472184"/>
            <a:chOff x="4924806" y="4610100"/>
            <a:chExt cx="6809994" cy="1472184"/>
          </a:xfrm>
        </p:grpSpPr>
        <p:sp>
          <p:nvSpPr>
            <p:cNvPr id="17" name="Line 17"/>
            <p:cNvSpPr/>
            <p:nvPr/>
          </p:nvSpPr>
          <p:spPr>
            <a:xfrm>
              <a:off x="4933950" y="4610100"/>
              <a:ext cx="6800850" cy="9525"/>
            </a:xfrm>
            <a:custGeom>
              <a:avLst/>
              <a:gdLst/>
              <a:ahLst/>
              <a:cxnLst/>
              <a:rect l="l" t="t" r="r" b="b"/>
              <a:pathLst>
                <a:path w="6800850" h="9525">
                  <a:moveTo>
                    <a:pt x="0" y="0"/>
                  </a:moveTo>
                  <a:lnTo>
                    <a:pt x="680085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924806" y="4911090"/>
              <a:ext cx="292827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DeepSWE v1.1: mini-SWE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924806" y="5368290"/>
              <a:ext cx="55355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Terminal-Bench 2.1: DeepSeek Harness Minimal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924806" y="5730240"/>
              <a:ext cx="42367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Terminal-Bench context: 1M tokens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50342" y="6388418"/>
            <a:ext cx="11291316" cy="264033"/>
            <a:chOff x="450342" y="6388418"/>
            <a:chExt cx="11291316" cy="264033"/>
          </a:xfrm>
        </p:grpSpPr>
        <p:sp>
          <p:nvSpPr>
            <p:cNvPr id="22" name="TextBox 22"/>
            <p:cNvSpPr txBox="1"/>
            <p:nvPr/>
          </p:nvSpPr>
          <p:spPr>
            <a:xfrm>
              <a:off x="450342" y="6388418"/>
              <a:ext cx="46253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Source: report §4–6 and Table 3 evaluation settings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528031" y="638841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 descr="## [Group 4] 11 / CAPABILITY EVIDENCE&#10;At maximum effort, DeepSWE version one point one improves from fifty-four point four to seventy-four point two percent resolved compared with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2f217e5ffc1260ba3e9a1e75655a5d56d2251bdd63db3d0f24c3d4d40d9bfe18" orderSource="geometry" orderIndex="0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11 / CAPABILITY EVIDENCE</p2vs:concise>
                  <p2vs:detailed>At maximum effort, DeepSWE version one point one improves from fifty-four point four to seventy-four point two percent resolved compared with</p2vs:detailed>
                </p2vs:blockSemantics>
              </a:ext>
            </a:extLst>
          </p:cNvPr>
          <p:cNvGrpSpPr/>
          <p:nvPr/>
        </p:nvGrpSpPr>
        <p:grpSpPr>
          <a:xfrm>
            <a:off x="438912" y="453390"/>
            <a:ext cx="10828709" cy="1157478"/>
            <a:chOff x="438912" y="453390"/>
            <a:chExt cx="10828709" cy="1157478"/>
          </a:xfrm>
        </p:grpSpPr>
        <p:sp>
          <p:nvSpPr>
            <p:cNvPr id="2" name="TextBox 2"/>
            <p:cNvSpPr txBox="1"/>
            <p:nvPr/>
          </p:nvSpPr>
          <p:spPr>
            <a:xfrm>
              <a:off x="448056" y="453390"/>
              <a:ext cx="30138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11 / CAPABILITY EVIDENCE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38912" y="906780"/>
              <a:ext cx="10828709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Agent scores rise despite smaller caches</a:t>
              </a:r>
            </a:p>
          </p:txBody>
        </p:sp>
      </p:grpSp>
      <p:grpSp>
        <p:nvGrpSpPr>
          <p:cNvPr id="11" name="Group 11" descr="## [Group 11] DeepSWE v1.1 · Resolved&#10;V4 Flash. Terminal Bench two point one improves from eighty-two point seven to ninety point six percent Pass at One. Those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df938ef5978826ca5a750fc5c81c8145a7fd18868b54e7c2aa622947d1c2eb4f" orderSource="geometry" orderIndex="1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DeepSWE v1.1 · Resolved</p2vs:concise>
                  <p2vs:detailed>V4 Flash. Terminal Bench two point one improves from eighty-two point seven to ninety point six percent Pass at One. Those</p2vs:detailed>
                </p2vs:blockSemantics>
              </a:ext>
            </a:extLst>
          </p:cNvPr>
          <p:cNvGrpSpPr/>
          <p:nvPr/>
        </p:nvGrpSpPr>
        <p:grpSpPr>
          <a:xfrm>
            <a:off x="438150" y="1836420"/>
            <a:ext cx="9765045" cy="1959864"/>
            <a:chOff x="438150" y="1836420"/>
            <a:chExt cx="9765045" cy="1959864"/>
          </a:xfrm>
        </p:grpSpPr>
        <p:sp>
          <p:nvSpPr>
            <p:cNvPr id="5" name="TextBox 5"/>
            <p:cNvSpPr txBox="1"/>
            <p:nvPr/>
          </p:nvSpPr>
          <p:spPr>
            <a:xfrm>
              <a:off x="445008" y="1836420"/>
              <a:ext cx="411551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DeepSWE v1.1 · Resolved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38150" y="2385060"/>
              <a:ext cx="2897429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54.4%</a:t>
              </a:r>
            </a:p>
          </p:txBody>
        </p:sp>
        <p:sp>
          <p:nvSpPr>
            <p:cNvPr id="7" name="Freeform 7"/>
            <p:cNvSpPr/>
            <p:nvPr/>
          </p:nvSpPr>
          <p:spPr>
            <a:xfrm>
              <a:off x="5600700" y="2552700"/>
              <a:ext cx="952500" cy="476250"/>
            </a:xfrm>
            <a:prstGeom prst="rightArrow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162800" y="2385060"/>
              <a:ext cx="3040395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74.2%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48056" y="3444240"/>
              <a:ext cx="10428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V4-Flash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72706" y="3444240"/>
              <a:ext cx="131445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V4.1-Flash</a:t>
              </a:r>
            </a:p>
          </p:txBody>
        </p:sp>
      </p:grpSp>
      <p:grpSp>
        <p:nvGrpSpPr>
          <p:cNvPr id="19" name="Group 19" descr="## [Group 19] Terminal-Bench 2.1 · Pass@1&#10;gains coexist with substantially smaller caches. They show that this complete trained model improves on the prior Flash model in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0f231ad20d9d18ac647f79ed5c02f88fdc24df34744af04ee89708fdee4d9cdf" orderSource="geometry" orderIndex="2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Terminal-Bench 2.1 · Pass@1</p2vs:concise>
                  <p2vs:detailed>gains coexist with substantially smaller caches. They show that this complete trained model improves on the prior Flash model in</p2vs:detailed>
                </p2vs:blockSemantics>
              </a:ext>
            </a:extLst>
          </p:cNvPr>
          <p:cNvGrpSpPr/>
          <p:nvPr/>
        </p:nvGrpSpPr>
        <p:grpSpPr>
          <a:xfrm>
            <a:off x="438150" y="3905250"/>
            <a:ext cx="11296650" cy="1986534"/>
            <a:chOff x="438150" y="3905250"/>
            <a:chExt cx="11296650" cy="1986534"/>
          </a:xfrm>
        </p:grpSpPr>
        <p:sp>
          <p:nvSpPr>
            <p:cNvPr id="12" name="Line 12"/>
            <p:cNvSpPr/>
            <p:nvPr/>
          </p:nvSpPr>
          <p:spPr>
            <a:xfrm>
              <a:off x="457200" y="39052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45008" y="4065270"/>
              <a:ext cx="475269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Terminal-Bench 2.1 · Pass@1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38150" y="4499610"/>
              <a:ext cx="2897429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82.7%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5600700" y="4533900"/>
              <a:ext cx="952500" cy="476250"/>
            </a:xfrm>
            <a:prstGeom prst="rightArrow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162800" y="4499610"/>
              <a:ext cx="3040395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90.6%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48056" y="5539740"/>
              <a:ext cx="10428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V4-Flash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172706" y="5539740"/>
              <a:ext cx="131445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V4.1-Flash</a:t>
              </a:r>
            </a:p>
          </p:txBody>
        </p:sp>
      </p:grpSp>
      <p:grpSp>
        <p:nvGrpSpPr>
          <p:cNvPr id="21" name="Group 21" descr="## [Group 21] Max effort, report-specific harnesses; complete-model comparison.&#10;the reported setups. They do not isolate the causal contribution of cache compression from training, model changes, or evaluation scaffolds.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89bb7d39555317632367bfd0f2bb58c0380cbdfff2835b544137abc99b22d564" orderSource="geometry" orderIndex="3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Max effort, report-specific harnesses; complete-model comparison.</p2vs:concise>
                  <p2vs:detailed>the reported setups. They do not isolate the causal contribution of cache compression from training, model changes, or evaluation scaffolds.</p2vs:detailed>
                </p2vs:blockSemantics>
              </a:ext>
            </a:extLst>
          </p:cNvPr>
          <p:cNvGrpSpPr/>
          <p:nvPr/>
        </p:nvGrpSpPr>
        <p:grpSpPr>
          <a:xfrm>
            <a:off x="448056" y="5958840"/>
            <a:ext cx="8277639" cy="352044"/>
            <a:chOff x="448056" y="5958840"/>
            <a:chExt cx="8277639" cy="352044"/>
          </a:xfrm>
        </p:grpSpPr>
        <p:sp>
          <p:nvSpPr>
            <p:cNvPr id="20" name="TextBox 20"/>
            <p:cNvSpPr txBox="1"/>
            <p:nvPr/>
          </p:nvSpPr>
          <p:spPr>
            <a:xfrm>
              <a:off x="448056" y="5958840"/>
              <a:ext cx="827763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Max effort, report-specific harnesses; complete-model comparison.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50342" y="6388418"/>
            <a:ext cx="11291316" cy="264033"/>
            <a:chOff x="450342" y="6388418"/>
            <a:chExt cx="11291316" cy="264033"/>
          </a:xfrm>
        </p:grpSpPr>
        <p:sp>
          <p:nvSpPr>
            <p:cNvPr id="22" name="TextBox 22"/>
            <p:cNvSpPr txBox="1"/>
            <p:nvPr/>
          </p:nvSpPr>
          <p:spPr>
            <a:xfrm>
              <a:off x="450342" y="6388418"/>
              <a:ext cx="44136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Source: report Table 3. Scores are percentages.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528031" y="638841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 descr="## [Group 5] 12 / LONG-CONTEXT COMPUTE SCALING&#10;Figure Two examines single-token decode computation as context grows. Moving from four thousand to one million context tokens is a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41bcb762faab3fcf6c20bd6f1561beb02767f8c4aeac31721a420fccd6480e56" orderSource="geometry" orderIndex="0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12 / LONG-CONTEXT COMPUTE SCALING</p2vs:concise>
                  <p2vs:detailed>Figure Two examines single-token decode computation as context grows. Moving from four thousand to one million context tokens is a</p2vs:detailed>
                </p2vs:blockSemantics>
              </a:ext>
            </a:extLst>
          </p:cNvPr>
          <p:cNvGrpSpPr/>
          <p:nvPr/>
        </p:nvGrpSpPr>
        <p:grpSpPr>
          <a:xfrm>
            <a:off x="438912" y="434340"/>
            <a:ext cx="8533638" cy="1652778"/>
            <a:chOff x="438912" y="434340"/>
            <a:chExt cx="8533638" cy="1652778"/>
          </a:xfrm>
        </p:grpSpPr>
        <p:sp>
          <p:nvSpPr>
            <p:cNvPr id="2" name="TextBox 2"/>
            <p:cNvSpPr txBox="1"/>
            <p:nvPr/>
          </p:nvSpPr>
          <p:spPr>
            <a:xfrm>
              <a:off x="448056" y="434340"/>
              <a:ext cx="455005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12 / LONG-CONTEXT COMPUTE SCALING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38912" y="811530"/>
              <a:ext cx="5198181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256× more context.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38912" y="1383030"/>
              <a:ext cx="853363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About 25% more decode FLOPs.</a:t>
              </a:r>
            </a:p>
          </p:txBody>
        </p:sp>
      </p:grpSp>
      <p:grpSp>
        <p:nvGrpSpPr>
          <p:cNvPr id="7" name="Group 7" descr="## [Group 7] Group 7&#10;two-hundred-fifty-six-fold increase in length, yet the report describes only about twenty-five percent more decode FLOPs. These are precision-weighted operations: BF16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ba40f23555e1a23aa9653dcc8b0dc6fa57087465c2751a1742b4ec15b9bfdfb7" orderSource="geometry" orderIndex="1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Group 7</p2vs:concise>
                  <p2vs:detailed>two-hundred-fifty-six-fold increase in length, yet the report describes only about twenty-five percent more decode FLOPs. These are precision-weighted operations: BF16</p2vs:detailed>
                </p2vs:blockSemantics>
              </a:ext>
            </a:extLst>
          </p:cNvPr>
          <p:cNvGrpSpPr/>
          <p:nvPr/>
        </p:nvGrpSpPr>
        <p:grpSpPr>
          <a:xfrm>
            <a:off x="457200" y="2133600"/>
            <a:ext cx="7429500" cy="4133850"/>
            <a:chOff x="457200" y="2133600"/>
            <a:chExt cx="7429500" cy="4133850"/>
          </a:xfrm>
        </p:grpSpPr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7200" y="2133600"/>
              <a:ext cx="7429500" cy="4133850"/>
            </a:xfrm>
            <a:prstGeom prst="rect">
              <a:avLst/>
            </a:prstGeom>
          </p:spPr>
        </p:pic>
      </p:grpSp>
      <p:grpSp>
        <p:nvGrpSpPr>
          <p:cNvPr id="12" name="Group 12" descr="## [Group 12] 4K TO 1M CONTEXT&#10;counts as one, FP8 as one half, and FP4 as one quarter. The result supports favorable compute scaling. It should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906c4bdf65db453326bd994c8aa1ada11c31661a71c22038a45ec58739a39e2c" orderSource="geometry" orderIndex="2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4K TO 1M CONTEXT</p2vs:concise>
                  <p2vs:detailed>counts as one, FP8 as one half, and FP4 as one quarter. The result supports favorable compute scaling. It should</p2vs:detailed>
                </p2vs:blockSemantics>
              </a:ext>
            </a:extLst>
          </p:cNvPr>
          <p:cNvGrpSpPr/>
          <p:nvPr/>
        </p:nvGrpSpPr>
        <p:grpSpPr>
          <a:xfrm>
            <a:off x="8420100" y="2358390"/>
            <a:ext cx="2480645" cy="1990344"/>
            <a:chOff x="8420100" y="2358390"/>
            <a:chExt cx="2480645" cy="1990344"/>
          </a:xfrm>
        </p:grpSpPr>
        <p:sp>
          <p:nvSpPr>
            <p:cNvPr id="8" name="TextBox 8"/>
            <p:cNvSpPr txBox="1"/>
            <p:nvPr/>
          </p:nvSpPr>
          <p:spPr>
            <a:xfrm>
              <a:off x="8430006" y="2358390"/>
              <a:ext cx="223296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4K TO 1M CONTEXT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420100" y="2785110"/>
              <a:ext cx="2480645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~25%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430006" y="3653790"/>
              <a:ext cx="17266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more weighted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430006" y="3996690"/>
              <a:ext cx="163812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decode FLOPs</a:t>
              </a:r>
            </a:p>
          </p:txBody>
        </p:sp>
      </p:grpSp>
      <p:grpSp>
        <p:nvGrpSpPr>
          <p:cNvPr id="18" name="Group 18" descr="## [Group 18] FLOP weights:&#10;not be read as a latency benchmark, a throughput guarantee, or a measured reduction in the complete serving bill.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179b0e6e83181b26670c9293ff7ebf99df77bc1ceefe310c3fa8bb36d468b804" orderSource="geometry" orderIndex="3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FLOP weights:</p2vs:concise>
                  <p2vs:detailed>not be read as a latency benchmark, a throughput guarantee, or a measured reduction in the complete serving bill.</p2vs:detailed>
                </p2vs:blockSemantics>
              </a:ext>
            </a:extLst>
          </p:cNvPr>
          <p:cNvGrpSpPr/>
          <p:nvPr/>
        </p:nvGrpSpPr>
        <p:grpSpPr>
          <a:xfrm>
            <a:off x="8430006" y="4381500"/>
            <a:ext cx="3304794" cy="1853184"/>
            <a:chOff x="8430006" y="4381500"/>
            <a:chExt cx="3304794" cy="1853184"/>
          </a:xfrm>
        </p:grpSpPr>
        <p:sp>
          <p:nvSpPr>
            <p:cNvPr id="13" name="Line 13"/>
            <p:cNvSpPr/>
            <p:nvPr/>
          </p:nvSpPr>
          <p:spPr>
            <a:xfrm>
              <a:off x="8439150" y="4381500"/>
              <a:ext cx="3295650" cy="9525"/>
            </a:xfrm>
            <a:custGeom>
              <a:avLst/>
              <a:gdLst/>
              <a:ahLst/>
              <a:cxnLst/>
              <a:rect l="l" t="t" r="r" b="b"/>
              <a:pathLst>
                <a:path w="3295650" h="9525">
                  <a:moveTo>
                    <a:pt x="0" y="0"/>
                  </a:moveTo>
                  <a:lnTo>
                    <a:pt x="329565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430006" y="4606290"/>
              <a:ext cx="17617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FLOP weights: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430006" y="4968240"/>
              <a:ext cx="20153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BF16 / FP8 / FP4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430006" y="5330190"/>
              <a:ext cx="16418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 / 0.5 / 0.25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430006" y="5882640"/>
              <a:ext cx="282635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Compute, not latency.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50342" y="6388418"/>
            <a:ext cx="11291316" cy="264033"/>
            <a:chOff x="450342" y="6388418"/>
            <a:chExt cx="11291316" cy="264033"/>
          </a:xfrm>
        </p:grpSpPr>
        <p:sp>
          <p:nvSpPr>
            <p:cNvPr id="19" name="TextBox 19"/>
            <p:cNvSpPr txBox="1"/>
            <p:nvPr/>
          </p:nvSpPr>
          <p:spPr>
            <a:xfrm>
              <a:off x="450342" y="6388418"/>
              <a:ext cx="85531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Source: report Figure 2 and Introduction. Single-token decode; precision-weighted accounting.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28031" y="638841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 descr="## [Group 5] 13 / COST–QUALITY CONTROL SWEEP&#10;The reasoning-effort sweep exposes another deployment trade-off. Raising effort from twenty-five to one hundred increases DeepSWE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6bc4e519a57187d41a25721e5cf681b1e454fe2dc4053630e7fe5f9d94a68987" orderSource="geometry" orderIndex="0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13 / COST–QUALITY CONTROL SWEEP</p2vs:concise>
                  <p2vs:detailed>The reasoning-effort sweep exposes another deployment trade-off. Raising effort from twenty-five to one hundred increases DeepSWE</p2vs:detailed>
                </p2vs:blockSemantics>
              </a:ext>
            </a:extLst>
          </p:cNvPr>
          <p:cNvGrpSpPr/>
          <p:nvPr/>
        </p:nvGrpSpPr>
        <p:grpSpPr>
          <a:xfrm>
            <a:off x="438912" y="434340"/>
            <a:ext cx="7387015" cy="1690878"/>
            <a:chOff x="438912" y="434340"/>
            <a:chExt cx="7387015" cy="1690878"/>
          </a:xfrm>
        </p:grpSpPr>
        <p:sp>
          <p:nvSpPr>
            <p:cNvPr id="2" name="TextBox 2"/>
            <p:cNvSpPr txBox="1"/>
            <p:nvPr/>
          </p:nvSpPr>
          <p:spPr>
            <a:xfrm>
              <a:off x="448056" y="434340"/>
              <a:ext cx="43196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13 / COST–QUALITY CONTROL SWEEP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38912" y="849630"/>
              <a:ext cx="7387015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More reasoning buys quality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38912" y="1421130"/>
              <a:ext cx="651546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with more output tokens</a:t>
              </a:r>
            </a:p>
          </p:txBody>
        </p:sp>
      </p:grpSp>
      <p:grpSp>
        <p:nvGrpSpPr>
          <p:cNvPr id="9" name="Group 9" descr="## [Group 9] REASONING EFFORT: 25 TO 100&#10;from sixty-six to seventy-four point two percent, and Terminal Bench from eighty-two point four to ninety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b353bfd7710a638d4162bea339940926e6dd5e3cb59cf000b13ae19eb6e3a817" orderSource="geometry" orderIndex="1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REASONING EFFORT: 25 TO 100</p2vs:concise>
                  <p2vs:detailed>from sixty-six to seventy-four point two percent, and Terminal Bench from eighty-two point four to ninety</p2vs:detailed>
                </p2vs:blockSemantics>
              </a:ext>
            </a:extLst>
          </p:cNvPr>
          <p:cNvGrpSpPr/>
          <p:nvPr/>
        </p:nvGrpSpPr>
        <p:grpSpPr>
          <a:xfrm>
            <a:off x="438150" y="2491740"/>
            <a:ext cx="3663848" cy="2271522"/>
            <a:chOff x="438150" y="2491740"/>
            <a:chExt cx="3663848" cy="2271522"/>
          </a:xfrm>
        </p:grpSpPr>
        <p:sp>
          <p:nvSpPr>
            <p:cNvPr id="6" name="TextBox 6"/>
            <p:cNvSpPr txBox="1"/>
            <p:nvPr/>
          </p:nvSpPr>
          <p:spPr>
            <a:xfrm>
              <a:off x="448056" y="2491740"/>
              <a:ext cx="36539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REASONING EFFORT: 25 TO 100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38150" y="3051810"/>
              <a:ext cx="2836850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~2.5×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45008" y="4293870"/>
              <a:ext cx="357835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as many output tokens</a:t>
              </a:r>
            </a:p>
          </p:txBody>
        </p:sp>
      </p:grpSp>
      <p:sp>
        <p:nvSpPr>
          <p:cNvPr id="10" name="Line 10"/>
          <p:cNvSpPr/>
          <p:nvPr/>
        </p:nvSpPr>
        <p:spPr>
          <a:xfrm>
            <a:off x="5753100" y="2362200"/>
            <a:ext cx="9525" cy="2724150"/>
          </a:xfrm>
          <a:custGeom>
            <a:avLst/>
            <a:gdLst/>
            <a:ahLst/>
            <a:cxnLst/>
            <a:rect l="l" t="t" r="r" b="b"/>
            <a:pathLst>
              <a:path w="9525" h="2724150">
                <a:moveTo>
                  <a:pt x="0" y="0"/>
                </a:moveTo>
                <a:lnTo>
                  <a:pt x="0" y="2724150"/>
                </a:lnTo>
              </a:path>
            </a:pathLst>
          </a:custGeom>
          <a:noFill/>
          <a:ln w="47625">
            <a:solidFill>
              <a:schemeClr val="accent1"/>
            </a:solidFill>
          </a:ln>
        </p:spPr>
      </p:sp>
      <p:grpSp>
        <p:nvGrpSpPr>
          <p:cNvPr id="13" name="Group 13" descr="## [Group 13] DeepSWE v1.1&#10;point six percent. Output length grows by roughly two and a half times. The highest setting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9ddfafa582dcd193a4bd74372f24cac2a1362d798f45950ea921d01bd8daf1f8" orderSource="geometry" orderIndex="2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DeepSWE v1.1</p2vs:concise>
                  <p2vs:detailed>point six percent. Output length grows by roughly two and a half times. The highest setting</p2vs:detailed>
                </p2vs:blockSemantics>
              </a:ext>
            </a:extLst>
          </p:cNvPr>
          <p:cNvGrpSpPr/>
          <p:nvPr/>
        </p:nvGrpSpPr>
        <p:grpSpPr>
          <a:xfrm>
            <a:off x="6176772" y="2465070"/>
            <a:ext cx="3109874" cy="1080325"/>
            <a:chOff x="6176772" y="2465070"/>
            <a:chExt cx="3109874" cy="1080325"/>
          </a:xfrm>
        </p:grpSpPr>
        <p:sp>
          <p:nvSpPr>
            <p:cNvPr id="11" name="TextBox 11"/>
            <p:cNvSpPr txBox="1"/>
            <p:nvPr/>
          </p:nvSpPr>
          <p:spPr>
            <a:xfrm>
              <a:off x="6179058" y="2465070"/>
              <a:ext cx="230931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DeepSWE v1.1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176772" y="2987992"/>
              <a:ext cx="310987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66.0% to 74.2%</a:t>
              </a:r>
            </a:p>
          </p:txBody>
        </p:sp>
      </p:grpSp>
      <p:grpSp>
        <p:nvGrpSpPr>
          <p:cNvPr id="16" name="Group 16" descr="## [Group 16] Terminal-Bench 2.1&#10;gives diminishing gains. This is a useful control sweep, but not an isolated architectural ablation. The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aeed903b243aa37ba3ce0e287048785ebc9d6d0d471a6611e8373e3eb9d14f27" orderSource="geometry" orderIndex="3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Terminal-Bench 2.1</p2vs:concise>
                  <p2vs:detailed>gives diminishing gains. This is a useful control sweep, but not an isolated architectural ablation. The</p2vs:detailed>
                </p2vs:blockSemantics>
              </a:ext>
            </a:extLst>
          </p:cNvPr>
          <p:cNvGrpSpPr/>
          <p:nvPr/>
        </p:nvGrpSpPr>
        <p:grpSpPr>
          <a:xfrm>
            <a:off x="6176772" y="4008120"/>
            <a:ext cx="3226208" cy="1080325"/>
            <a:chOff x="6176772" y="4008120"/>
            <a:chExt cx="3226208" cy="1080325"/>
          </a:xfrm>
        </p:grpSpPr>
        <p:sp>
          <p:nvSpPr>
            <p:cNvPr id="14" name="TextBox 14"/>
            <p:cNvSpPr txBox="1"/>
            <p:nvPr/>
          </p:nvSpPr>
          <p:spPr>
            <a:xfrm>
              <a:off x="6179058" y="4008120"/>
              <a:ext cx="322392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Terminal-Bench 2.1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176772" y="4531042"/>
              <a:ext cx="310987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82.4% to 90.6%</a:t>
              </a:r>
            </a:p>
          </p:txBody>
        </p:sp>
      </p:grpSp>
      <p:grpSp>
        <p:nvGrpSpPr>
          <p:cNvPr id="20" name="Group 20" descr="## [Group 20] This sweep does not isolate the architecture’s contribution.&#10;relevant architecture sections describe FP4 and replay degradation qualitatively rather than supplying a numerical component-attribution table.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c6d340fd16127ef0120feb2214bf5d4eee0893872c639d66fcfff781ac8a0cf0" orderSource="geometry" orderIndex="4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This sweep does not isolate the architecture’s contribution.</p2vs:concise>
                  <p2vs:detailed>relevant architecture sections describe FP4 and replay degradation qualitatively rather than supplying a numerical component-attribution table.</p2vs:detailed>
                </p2vs:blockSemantics>
              </a:ext>
            </a:extLst>
          </p:cNvPr>
          <p:cNvGrpSpPr/>
          <p:nvPr/>
        </p:nvGrpSpPr>
        <p:grpSpPr>
          <a:xfrm>
            <a:off x="445008" y="5448300"/>
            <a:ext cx="11289792" cy="919734"/>
            <a:chOff x="445008" y="5448300"/>
            <a:chExt cx="11289792" cy="919734"/>
          </a:xfrm>
        </p:grpSpPr>
        <p:sp>
          <p:nvSpPr>
            <p:cNvPr id="17" name="Line 17"/>
            <p:cNvSpPr/>
            <p:nvPr/>
          </p:nvSpPr>
          <p:spPr>
            <a:xfrm>
              <a:off x="457200" y="54483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45008" y="5627370"/>
              <a:ext cx="971160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This sweep does not isolate the architecture’s contribution.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48056" y="6015990"/>
              <a:ext cx="104293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FP4 and replay quality effects are described qualitatively in the architecture sections.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50342" y="6445568"/>
            <a:ext cx="11291316" cy="264033"/>
            <a:chOff x="450342" y="6445568"/>
            <a:chExt cx="11291316" cy="264033"/>
          </a:xfrm>
        </p:grpSpPr>
        <p:sp>
          <p:nvSpPr>
            <p:cNvPr id="21" name="TextBox 21"/>
            <p:cNvSpPr txBox="1"/>
            <p:nvPr/>
          </p:nvSpPr>
          <p:spPr>
            <a:xfrm>
              <a:off x="450342" y="6445568"/>
              <a:ext cx="55929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Source: report §6 reasoning-effort sweep; §2.4.4 and §3.2.2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528031" y="644556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 descr="## [Group 4] 14 / HEADLINE NUMBERS, CORRECT SCOPE&#10;The headline numbers refer to different boundaries. Eight hundred ninety bytes per token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885bc0e80a148becc1a28e81c406619ffe0ed0569f63ea108218f78ebe344d33" orderSource="geometry" orderIndex="0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14 / HEADLINE NUMBERS, CORRECT SCOPE</p2vs:concise>
                  <p2vs:detailed>The headline numbers refer to different boundaries. Eight hundred ninety bytes per token</p2vs:detailed>
                </p2vs:blockSemantics>
              </a:ext>
            </a:extLst>
          </p:cNvPr>
          <p:cNvGrpSpPr/>
          <p:nvPr/>
        </p:nvGrpSpPr>
        <p:grpSpPr>
          <a:xfrm>
            <a:off x="438912" y="453390"/>
            <a:ext cx="9779394" cy="1157478"/>
            <a:chOff x="438912" y="453390"/>
            <a:chExt cx="9779394" cy="1157478"/>
          </a:xfrm>
        </p:grpSpPr>
        <p:sp>
          <p:nvSpPr>
            <p:cNvPr id="2" name="TextBox 2"/>
            <p:cNvSpPr txBox="1"/>
            <p:nvPr/>
          </p:nvSpPr>
          <p:spPr>
            <a:xfrm>
              <a:off x="448056" y="453390"/>
              <a:ext cx="485729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14 / HEADLINE NUMBERS, CORRECT SCOPE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38912" y="906780"/>
              <a:ext cx="977939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Keep the cache denominators explicit</a:t>
              </a:r>
            </a:p>
          </p:txBody>
        </p:sp>
      </p:grpSp>
      <p:grpSp>
        <p:nvGrpSpPr>
          <p:cNvPr id="8" name="Group 8" descr="## [Group 8] 890&#10;measures global key-value cache, not model weights, activations, or every piece of runtime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60c0f9203604096ac07925139442411f3237cd2478896aeabcc8af02359811b7" orderSource="geometry" orderIndex="1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890</p2vs:concise>
                  <p2vs:detailed>measures global key-value cache, not model weights, activations, or every piece of runtime</p2vs:detailed>
                </p2vs:blockSemantics>
              </a:ext>
            </a:extLst>
          </p:cNvPr>
          <p:cNvGrpSpPr/>
          <p:nvPr/>
        </p:nvGrpSpPr>
        <p:grpSpPr>
          <a:xfrm>
            <a:off x="438150" y="2766060"/>
            <a:ext cx="3318205" cy="2306574"/>
            <a:chOff x="438150" y="2766060"/>
            <a:chExt cx="3318205" cy="2306574"/>
          </a:xfrm>
        </p:grpSpPr>
        <p:sp>
          <p:nvSpPr>
            <p:cNvPr id="5" name="TextBox 5"/>
            <p:cNvSpPr txBox="1"/>
            <p:nvPr/>
          </p:nvSpPr>
          <p:spPr>
            <a:xfrm>
              <a:off x="438150" y="2766060"/>
              <a:ext cx="1717350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890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42722" y="3978592"/>
              <a:ext cx="317068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bytes per token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48056" y="4720590"/>
              <a:ext cx="330829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GLOBAL KV / ALWAYS IN HBM</a:t>
              </a:r>
            </a:p>
          </p:txBody>
        </p:sp>
      </p:grpSp>
      <p:sp>
        <p:nvSpPr>
          <p:cNvPr id="9" name="Freeform 9" descr="## [Freeform 9] Freeform 9&#10;state. At the same sequence length, the report gives approximately four times smaller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024793f54b279366d6c6d901ed55daad5b22d0ef5a231a254838c1bbff0e69c2" orderSource="geometry" orderIndex="2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Freeform 9</p2vs:concise>
                  <p2vs:detailed>state. At the same sequence length, the report gives approximately four times smaller</p2vs:detailed>
                </p2vs:blockSemantics>
              </a:ext>
            </a:extLst>
          </p:cNvPr>
          <p:cNvSpPr/>
          <p:nvPr/>
        </p:nvSpPr>
        <p:spPr>
          <a:xfrm>
            <a:off x="6553200" y="2228850"/>
            <a:ext cx="400050" cy="3181350"/>
          </a:xfrm>
          <a:prstGeom prst="leftBracket">
            <a:avLst/>
          </a:prstGeom>
          <a:noFill/>
          <a:ln w="38100">
            <a:solidFill>
              <a:schemeClr val="accent1"/>
            </a:solidFill>
          </a:ln>
        </p:spPr>
      </p:sp>
      <p:grpSp>
        <p:nvGrpSpPr>
          <p:cNvPr id="12" name="Group 12" descr="## [Group 12] ~4× smaller&#10;global cache and eight times smaller persistent cache than V4 Flash. The persistent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1c291e948ce87c275bc4b4baf528495858a0a4f4b822fcbdfe7a50e9b50d255a" orderSource="geometry" orderIndex="3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~4× smaller</p2vs:concise>
                  <p2vs:detailed>global cache and eight times smaller persistent cache than V4 Flash. The persistent</p2vs:detailed>
                </p2vs:blockSemantics>
              </a:ext>
            </a:extLst>
          </p:cNvPr>
          <p:cNvGrpSpPr/>
          <p:nvPr/>
        </p:nvGrpSpPr>
        <p:grpSpPr>
          <a:xfrm>
            <a:off x="7335012" y="2487930"/>
            <a:ext cx="2993746" cy="1113282"/>
            <a:chOff x="7335012" y="2487930"/>
            <a:chExt cx="2993746" cy="1113282"/>
          </a:xfrm>
        </p:grpSpPr>
        <p:sp>
          <p:nvSpPr>
            <p:cNvPr id="10" name="TextBox 10"/>
            <p:cNvSpPr txBox="1"/>
            <p:nvPr/>
          </p:nvSpPr>
          <p:spPr>
            <a:xfrm>
              <a:off x="7335012" y="2487930"/>
              <a:ext cx="299374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~4× smaller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341108" y="3131820"/>
              <a:ext cx="238717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global KV cache</a:t>
              </a:r>
            </a:p>
          </p:txBody>
        </p:sp>
      </p:grpSp>
      <p:grpSp>
        <p:nvGrpSpPr>
          <p:cNvPr id="15" name="Group 15" descr="## [Group 15] ~8× smaller&#10;result additionally benefits from omitting sliding-window state. When estimating capacity, begin with the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1d964a558f6cc5959c8dcf33b4445d63dfe76d99b2079b92c3e8841fd1fe1752" orderSource="geometry" orderIndex="4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~8× smaller</p2vs:concise>
                  <p2vs:detailed>result additionally benefits from omitting sliding-window state. When estimating capacity, begin with the</p2vs:detailed>
                </p2vs:blockSemantics>
              </a:ext>
            </a:extLst>
          </p:cNvPr>
          <p:cNvGrpSpPr/>
          <p:nvPr/>
        </p:nvGrpSpPr>
        <p:grpSpPr>
          <a:xfrm>
            <a:off x="7335012" y="4259580"/>
            <a:ext cx="2993746" cy="1113282"/>
            <a:chOff x="7335012" y="4259580"/>
            <a:chExt cx="2993746" cy="1113282"/>
          </a:xfrm>
        </p:grpSpPr>
        <p:sp>
          <p:nvSpPr>
            <p:cNvPr id="13" name="TextBox 13"/>
            <p:cNvSpPr txBox="1"/>
            <p:nvPr/>
          </p:nvSpPr>
          <p:spPr>
            <a:xfrm>
              <a:off x="7335012" y="4259580"/>
              <a:ext cx="299374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~8× smaller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341108" y="4903470"/>
              <a:ext cx="270601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persistent cache</a:t>
              </a:r>
            </a:p>
          </p:txBody>
        </p:sp>
      </p:grpSp>
      <p:grpSp>
        <p:nvGrpSpPr>
          <p:cNvPr id="18" name="Group 18" descr="## [Group 18] 890 bytes excludes weights, activations, and other runtime state.&#10;right denominator and add the memory categories that this global-cache statistic excludes.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728c6f64450118e7125f1aa97e860081324a823ac8f366623cd40b4754038d8b" orderSource="geometry" orderIndex="5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890 bytes excludes weights, activations, and other runtime state.</p2vs:concise>
                  <p2vs:detailed>right denominator and add the memory categories that this global-cache statistic excludes.</p2vs:detailed>
                </p2vs:blockSemantics>
              </a:ext>
            </a:extLst>
          </p:cNvPr>
          <p:cNvGrpSpPr/>
          <p:nvPr/>
        </p:nvGrpSpPr>
        <p:grpSpPr>
          <a:xfrm>
            <a:off x="448056" y="5657850"/>
            <a:ext cx="11286744" cy="614934"/>
            <a:chOff x="448056" y="5657850"/>
            <a:chExt cx="11286744" cy="614934"/>
          </a:xfrm>
        </p:grpSpPr>
        <p:sp>
          <p:nvSpPr>
            <p:cNvPr id="16" name="Line 16"/>
            <p:cNvSpPr/>
            <p:nvPr/>
          </p:nvSpPr>
          <p:spPr>
            <a:xfrm>
              <a:off x="457200" y="56578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48056" y="5920740"/>
              <a:ext cx="79904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890 bytes excludes weights, activations, and other runtime state.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50342" y="6388418"/>
            <a:ext cx="11291316" cy="264033"/>
            <a:chOff x="450342" y="6388418"/>
            <a:chExt cx="11291316" cy="264033"/>
          </a:xfrm>
        </p:grpSpPr>
        <p:sp>
          <p:nvSpPr>
            <p:cNvPr id="19" name="TextBox 19"/>
            <p:cNvSpPr txBox="1"/>
            <p:nvPr/>
          </p:nvSpPr>
          <p:spPr>
            <a:xfrm>
              <a:off x="450342" y="6388418"/>
              <a:ext cx="78994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Source: report Abstract and §3.2. Ratios versus V4-Flash at the same sequence length.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28031" y="638841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457200" y="457200"/>
            <a:ext cx="11277600" cy="95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5" name="Group 5" descr="## [Group 5] Share the history.&#10;The reusable engineering principle is to share expensive global history and rebuild cheap local state. The model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5581598fe70448ce5845174564a9176dbb48f2e5f430013fda00670191f27f14" orderSource="geometry" orderIndex="0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Share the history.</p2vs:concise>
                  <p2vs:detailed>The reusable engineering principle is to share expensive global history and rebuild cheap local state. The model</p2vs:detailed>
                </p2vs:blockSemantics>
              </a:ext>
            </a:extLst>
          </p:cNvPr>
          <p:cNvGrpSpPr/>
          <p:nvPr/>
        </p:nvGrpSpPr>
        <p:grpSpPr>
          <a:xfrm>
            <a:off x="438912" y="1135380"/>
            <a:ext cx="6258826" cy="1351788"/>
            <a:chOff x="438912" y="1135380"/>
            <a:chExt cx="6258826" cy="1351788"/>
          </a:xfrm>
        </p:grpSpPr>
        <p:sp>
          <p:nvSpPr>
            <p:cNvPr id="3" name="TextBox 3"/>
            <p:cNvSpPr txBox="1"/>
            <p:nvPr/>
          </p:nvSpPr>
          <p:spPr>
            <a:xfrm>
              <a:off x="438912" y="1135380"/>
              <a:ext cx="502651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Share the history.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38912" y="1783080"/>
              <a:ext cx="625882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Rebuild the local state.</a:t>
              </a:r>
            </a:p>
          </p:txBody>
        </p:sp>
      </p:grpSp>
      <p:grpSp>
        <p:nvGrpSpPr>
          <p:cNvPr id="11" name="Group 11" descr="## [Group 11] Quality&#10;combines architectural reuse, sparse selection, selective precision, and a serving policy that takes advantage of local attention.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64e99bfddbbf72928e2d0b8c3618feb12dc7b7791d92e30693bc7d991918dcff" orderSource="geometry" orderIndex="1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Quality</p2vs:concise>
                  <p2vs:detailed>combines architectural reuse, sparse selection, selective precision, and a serving policy that takes advantage of local attention.</p2vs:detailed>
                </p2vs:blockSemantics>
              </a:ext>
            </a:extLst>
          </p:cNvPr>
          <p:cNvGrpSpPr/>
          <p:nvPr/>
        </p:nvGrpSpPr>
        <p:grpSpPr>
          <a:xfrm>
            <a:off x="442722" y="3200400"/>
            <a:ext cx="3386328" cy="2177034"/>
            <a:chOff x="442722" y="3200400"/>
            <a:chExt cx="3386328" cy="2177034"/>
          </a:xfrm>
        </p:grpSpPr>
        <p:sp>
          <p:nvSpPr>
            <p:cNvPr id="6" name="Line 6"/>
            <p:cNvSpPr/>
            <p:nvPr/>
          </p:nvSpPr>
          <p:spPr>
            <a:xfrm>
              <a:off x="457200" y="3200400"/>
              <a:ext cx="3371850" cy="9525"/>
            </a:xfrm>
            <a:custGeom>
              <a:avLst/>
              <a:gdLst/>
              <a:ahLst/>
              <a:cxnLst/>
              <a:rect l="l" t="t" r="r" b="b"/>
              <a:pathLst>
                <a:path w="3371850" h="9525">
                  <a:moveTo>
                    <a:pt x="0" y="0"/>
                  </a:moveTo>
                  <a:lnTo>
                    <a:pt x="337185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442722" y="3559492"/>
              <a:ext cx="158628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Quality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48056" y="4263390"/>
              <a:ext cx="20382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Test your tasks.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48056" y="4644390"/>
              <a:ext cx="28496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Fix effort and harness.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48056" y="5025390"/>
              <a:ext cx="28496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Check visual-task gaps.</a:t>
              </a:r>
            </a:p>
          </p:txBody>
        </p:sp>
      </p:grpSp>
      <p:grpSp>
        <p:nvGrpSpPr>
          <p:cNvPr id="17" name="Group 17" descr="## [Group 17] Replay&#10;For deployment, evaluate quality on your own tasks, measure cache-hit and replay behavior, and account for memory,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376df7205871df189986d57c221541fe1bed63e73ed75123d916e23441a34830" orderSource="geometry" orderIndex="2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Replay</p2vs:concise>
                  <p2vs:detailed>For deployment, evaluate quality on your own tasks, measure cache-hit and replay behavior, and account for memory,</p2vs:detailed>
                </p2vs:blockSemantics>
              </a:ext>
            </a:extLst>
          </p:cNvPr>
          <p:cNvGrpSpPr/>
          <p:nvPr/>
        </p:nvGrpSpPr>
        <p:grpSpPr>
          <a:xfrm>
            <a:off x="4252722" y="3200400"/>
            <a:ext cx="3436540" cy="2177034"/>
            <a:chOff x="4252722" y="3200400"/>
            <a:chExt cx="3436540" cy="2177034"/>
          </a:xfrm>
        </p:grpSpPr>
        <p:sp>
          <p:nvSpPr>
            <p:cNvPr id="12" name="Line 12"/>
            <p:cNvSpPr/>
            <p:nvPr/>
          </p:nvSpPr>
          <p:spPr>
            <a:xfrm>
              <a:off x="4267200" y="3200400"/>
              <a:ext cx="3371850" cy="9525"/>
            </a:xfrm>
            <a:custGeom>
              <a:avLst/>
              <a:gdLst/>
              <a:ahLst/>
              <a:cxnLst/>
              <a:rect l="l" t="t" r="r" b="b"/>
              <a:pathLst>
                <a:path w="3371850" h="9525">
                  <a:moveTo>
                    <a:pt x="0" y="0"/>
                  </a:moveTo>
                  <a:lnTo>
                    <a:pt x="337185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252722" y="3559492"/>
              <a:ext cx="137356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Replay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258056" y="4263390"/>
              <a:ext cx="34312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Measure cache-hit behavior.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258056" y="4644390"/>
              <a:ext cx="27881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Validate bounded replay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258056" y="5025390"/>
              <a:ext cx="25868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on realistic prefixes.</a:t>
              </a:r>
            </a:p>
          </p:txBody>
        </p:sp>
      </p:grpSp>
      <p:grpSp>
        <p:nvGrpSpPr>
          <p:cNvPr id="23" name="Group 23" descr="## [Group 23] Total cost&#10;transfer, prefill, and decode together. Keep reasoning effort and harness settings explicit. The report also acknowledges remaining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3e268448c6e2911e0c01ed101c3397afa3dde0f521d5ca194f09e4205e95a429" orderSource="geometry" orderIndex="3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Total cost</p2vs:concise>
                  <p2vs:detailed>transfer, prefill, and decode together. Keep reasoning effort and harness settings explicit. The report also acknowledges remaining</p2vs:detailed>
                </p2vs:blockSemantics>
              </a:ext>
            </a:extLst>
          </p:cNvPr>
          <p:cNvGrpSpPr/>
          <p:nvPr/>
        </p:nvGrpSpPr>
        <p:grpSpPr>
          <a:xfrm>
            <a:off x="8062722" y="3200400"/>
            <a:ext cx="3672078" cy="2177034"/>
            <a:chOff x="8062722" y="3200400"/>
            <a:chExt cx="3672078" cy="2177034"/>
          </a:xfrm>
        </p:grpSpPr>
        <p:sp>
          <p:nvSpPr>
            <p:cNvPr id="18" name="Line 18"/>
            <p:cNvSpPr/>
            <p:nvPr/>
          </p:nvSpPr>
          <p:spPr>
            <a:xfrm>
              <a:off x="8077200" y="3200400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062722" y="3559492"/>
              <a:ext cx="220789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Total cost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068056" y="4263390"/>
              <a:ext cx="253513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Account for memory,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068056" y="4644390"/>
              <a:ext cx="36530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transfers, prefill, and decode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068056" y="5025390"/>
              <a:ext cx="261106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 the same workload.</a:t>
              </a:r>
            </a:p>
          </p:txBody>
        </p:sp>
      </p:grpSp>
      <p:grpSp>
        <p:nvGrpSpPr>
          <p:cNvPr id="25" name="Group 25" descr="## [Group 25] The model and the serving system are one design problem.&#10;visual-task gaps. Its strongest lesson is the value of designing the model and serving system together.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464e90037c5afc6173df9299614ce356f148c81a90a96daa333c74a595569394" orderSource="geometry" orderIndex="4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The model and the serving system are one design problem.</p2vs:concise>
                  <p2vs:detailed>visual-task gaps. Its strongest lesson is the value of designing the model and serving system together.</p2vs:detailed>
                </p2vs:blockSemantics>
              </a:ext>
            </a:extLst>
          </p:cNvPr>
          <p:cNvGrpSpPr/>
          <p:nvPr/>
        </p:nvGrpSpPr>
        <p:grpSpPr>
          <a:xfrm>
            <a:off x="445008" y="5932170"/>
            <a:ext cx="9130503" cy="469392"/>
            <a:chOff x="445008" y="5932170"/>
            <a:chExt cx="9130503" cy="469392"/>
          </a:xfrm>
        </p:grpSpPr>
        <p:sp>
          <p:nvSpPr>
            <p:cNvPr id="24" name="TextBox 24"/>
            <p:cNvSpPr txBox="1"/>
            <p:nvPr/>
          </p:nvSpPr>
          <p:spPr>
            <a:xfrm>
              <a:off x="445008" y="5932170"/>
              <a:ext cx="913050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The model and the serving system are one design problem.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eepSeek_V41_Flash">
  <a:themeElements>
    <a:clrScheme name="DeepSeek_V41_Flash">
      <a:dk1>
        <a:srgbClr val="4C0519"/>
      </a:dk1>
      <a:lt1>
        <a:srgbClr val="FFF1F2"/>
      </a:lt1>
      <a:dk2>
        <a:srgbClr val="1F497D"/>
      </a:dk2>
      <a:lt2>
        <a:srgbClr val="FFE4E6"/>
      </a:lt2>
      <a:accent1>
        <a:srgbClr val="4C0519"/>
      </a:accent1>
      <a:accent2>
        <a:srgbClr val="BE123C"/>
      </a:accent2>
      <a:accent3>
        <a:srgbClr val="9F1239"/>
      </a:accent3>
      <a:accent4>
        <a:srgbClr val="4C0519"/>
      </a:accent4>
      <a:accent5>
        <a:srgbClr val="881337"/>
      </a:accent5>
      <a:accent6>
        <a:srgbClr val="4C0519"/>
      </a:accent6>
      <a:hlink>
        <a:srgbClr val="BE123C"/>
      </a:hlink>
      <a:folHlink>
        <a:srgbClr val="9F1239"/>
      </a:folHlink>
    </a:clrScheme>
    <a:fontScheme name="DeepSeek_V41_Flash">
      <a:majorFont>
        <a:latin typeface="Georgia"/>
        <a:ea typeface="SimSun"/>
        <a:cs typeface="Georgia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epSeek_V41_Flash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DeepSeek_V41_Flash">
  <a:themeElements>
    <a:clrScheme name="DeepSeek_V41_Flash">
      <a:dk1>
        <a:srgbClr val="4C0519"/>
      </a:dk1>
      <a:lt1>
        <a:srgbClr val="FFF1F2"/>
      </a:lt1>
      <a:dk2>
        <a:srgbClr val="1F497D"/>
      </a:dk2>
      <a:lt2>
        <a:srgbClr val="FFE4E6"/>
      </a:lt2>
      <a:accent1>
        <a:srgbClr val="4C0519"/>
      </a:accent1>
      <a:accent2>
        <a:srgbClr val="BE123C"/>
      </a:accent2>
      <a:accent3>
        <a:srgbClr val="9F1239"/>
      </a:accent3>
      <a:accent4>
        <a:srgbClr val="4C0519"/>
      </a:accent4>
      <a:accent5>
        <a:srgbClr val="881337"/>
      </a:accent5>
      <a:accent6>
        <a:srgbClr val="4C0519"/>
      </a:accent6>
      <a:hlink>
        <a:srgbClr val="BE123C"/>
      </a:hlink>
      <a:folHlink>
        <a:srgbClr val="9F1239"/>
      </a:folHlink>
    </a:clrScheme>
    <a:fontScheme name="DeepSeek_V41_Flash">
      <a:majorFont>
        <a:latin typeface="Georgia"/>
        <a:ea typeface="SimSun"/>
        <a:cs typeface="Georgia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epSeek_V41_Flash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en-US</dc:language>
  <cp:lastModifiedBy/>
  <cp:revision>1</cp:revision>
  <dcterms:created xsi:type="dcterms:W3CDTF">2026-09-17T00:24:26Z</dcterms:created>
  <dcterms:modified xsi:type="dcterms:W3CDTF">2026-09-17T00:24:26Z</dcterms:modified>
  <cp:category/>
  <cp:contentStatus/>
</cp:coreProperties>
</file>