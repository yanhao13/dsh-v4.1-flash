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0427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650164"/>
            <a:ext cx="49902625" cy="4445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216068"/>
            <a:ext cx="10804961" cy="71050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216068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5216068"/>
            <a:ext cx="13506133" cy="9244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3568" y="5216068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16421" y="5216068"/>
            <a:ext cx="13506271" cy="94435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16421" y="5216068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5216068"/>
            <a:ext cx="10804962" cy="9359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5216068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12652970"/>
            <a:ext cx="10804961" cy="174189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887" y="12652970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3568" y="14791987"/>
            <a:ext cx="13506133" cy="7051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3568" y="14791987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14907140"/>
            <a:ext cx="10804962" cy="48060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49412" y="14907140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16421" y="14991457"/>
            <a:ext cx="13506271" cy="150804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16421" y="14991457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49412" y="20045005"/>
            <a:ext cx="10804962" cy="10026947"/>
          </a:xfrm>
          <a:prstGeom prst="rect">
            <a:avLst/>
          </a:prstGeom>
          <a:solidFill>
            <a:srgbClr val="F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49412" y="20045005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49412" y="20045005"/>
            <a:ext cx="53340" cy="10026947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3568" y="22175410"/>
            <a:ext cx="13506133" cy="78965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3568" y="22175410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861" y="6608742"/>
            <a:ext cx="10331013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861" y="6608742"/>
            <a:ext cx="124460" cy="1481019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8861" y="14045644"/>
            <a:ext cx="10331013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861" y="14045644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986386" y="16299815"/>
            <a:ext cx="10331014" cy="3223736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120542" y="18636495"/>
            <a:ext cx="13032185" cy="2881055"/>
          </a:xfrm>
          <a:prstGeom prst="roundRect">
            <a:avLst>
              <a:gd name="adj" fmla="val 7820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039726" y="21949687"/>
            <a:ext cx="10277674" cy="990819"/>
          </a:xfrm>
          <a:prstGeom prst="roundRect">
            <a:avLst>
              <a:gd name="adj" fmla="val 21055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pic>
        <p:nvPicPr>
          <p:cNvPr id="32" name="Picture 31" descr="deepseek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9129" y="1031103"/>
            <a:ext cx="2225973" cy="47116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0896778" y="171563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pic>
        <p:nvPicPr>
          <p:cNvPr id="34" name="Picture 33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3458" y="1822311"/>
            <a:ext cx="1801614" cy="180161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3172479" y="171563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pic>
        <p:nvPicPr>
          <p:cNvPr id="36" name="Picture 35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9159" y="1822311"/>
            <a:ext cx="1801614" cy="180161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053395" y="5541942"/>
            <a:ext cx="657026" cy="657027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449" b="1">
                <a:solidFill>
                  <a:srgbClr val="4B2E83"/>
                </a:solidFill>
                <a:latin typeface="Trebuchet MS"/>
              </a:rPr>
              <a:t>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20542" y="6869469"/>
            <a:ext cx="13032185" cy="6701393"/>
          </a:xfrm>
          <a:prstGeom prst="roundRect">
            <a:avLst>
              <a:gd name="adj" fmla="val 53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pic>
        <p:nvPicPr>
          <p:cNvPr id="39" name="Picture 38" descr="page7_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0542" y="6873742"/>
            <a:ext cx="13032185" cy="66928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378366" y="14202052"/>
            <a:ext cx="399591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2874" b="1">
                <a:solidFill>
                  <a:srgbClr val="FFFFFF"/>
                </a:solidFill>
                <a:latin typeface="Trebuchet MS"/>
              </a:rPr>
              <a:t>DESIGN PRINCIPLE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120542" y="15117861"/>
            <a:ext cx="657027" cy="657027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449" b="1">
                <a:solidFill>
                  <a:srgbClr val="4B2E83"/>
                </a:solidFill>
                <a:latin typeface="Trebuchet MS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53395" y="15317331"/>
            <a:ext cx="657026" cy="657026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449" b="1">
                <a:solidFill>
                  <a:srgbClr val="4B2E83"/>
                </a:solidFill>
                <a:latin typeface="Trebuchet MS"/>
              </a:rPr>
              <a:t>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53395" y="16491227"/>
            <a:ext cx="3183453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490" b="1">
                <a:solidFill>
                  <a:srgbClr val="4B2E83"/>
                </a:solidFill>
                <a:latin typeface="Trebuchet MS"/>
              </a:rPr>
              <a:t>FP4 main KV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93257" y="16491227"/>
            <a:ext cx="416440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490" b="1">
                <a:solidFill>
                  <a:srgbClr val="AE2622"/>
                </a:solidFill>
                <a:latin typeface="Trebuchet MS"/>
              </a:rPr>
              <a:t>128-token replay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42383" y="16522065"/>
            <a:ext cx="4329152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42383" y="16522065"/>
            <a:ext cx="11557" cy="2826742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120542" y="22501284"/>
            <a:ext cx="657027" cy="657027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449" b="1">
                <a:solidFill>
                  <a:srgbClr val="4B2E83"/>
                </a:solidFill>
                <a:latin typeface="Trebuchet MS"/>
              </a:rPr>
              <a:t>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8861" y="22532955"/>
            <a:ext cx="4855329" cy="4365684"/>
          </a:xfrm>
          <a:prstGeom prst="roundRect">
            <a:avLst>
              <a:gd name="adj" fmla="val 4778"/>
            </a:avLst>
          </a:prstGeom>
          <a:solidFill>
            <a:srgbClr val="FAFAFA"/>
          </a:solidFill>
          <a:ln w="8890">
            <a:solidFill>
              <a:srgbClr val="DB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64406" y="22532955"/>
            <a:ext cx="4855468" cy="4365684"/>
          </a:xfrm>
          <a:prstGeom prst="roundRect">
            <a:avLst>
              <a:gd name="adj" fmla="val 4778"/>
            </a:avLst>
          </a:prstGeom>
          <a:solidFill>
            <a:srgbClr val="FAFAFA"/>
          </a:solidFill>
          <a:ln w="8890">
            <a:solidFill>
              <a:srgbClr val="DB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6053395" y="639052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053395" y="8321040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053395" y="952132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 anchorCtr="0">
            <a:noAutofit/>
          </a:bodyPr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986386" y="10150574"/>
            <a:ext cx="10331014" cy="945118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120542" y="26555541"/>
            <a:ext cx="13032185" cy="945118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986386" y="6608742"/>
            <a:ext cx="5299690" cy="706477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986386" y="7306329"/>
            <a:ext cx="52996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286076" y="6608742"/>
            <a:ext cx="2324041" cy="706477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286076" y="7306329"/>
            <a:ext cx="232404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610117" y="6608742"/>
            <a:ext cx="2707283" cy="706477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610117" y="7306329"/>
            <a:ext cx="270728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986386" y="7315219"/>
            <a:ext cx="52996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986386" y="8251447"/>
            <a:ext cx="52996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286076" y="7315219"/>
            <a:ext cx="232404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286076" y="8251447"/>
            <a:ext cx="232404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610117" y="7315219"/>
            <a:ext cx="27072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610117" y="8251447"/>
            <a:ext cx="270728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986386" y="8260337"/>
            <a:ext cx="5299690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9986386" y="9196566"/>
            <a:ext cx="52996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286076" y="8260337"/>
            <a:ext cx="232404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286076" y="9196566"/>
            <a:ext cx="232404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610117" y="8260337"/>
            <a:ext cx="270728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610117" y="9196566"/>
            <a:ext cx="270728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986386" y="9205456"/>
            <a:ext cx="52996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9986386" y="10141684"/>
            <a:ext cx="52996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286076" y="9205456"/>
            <a:ext cx="232404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286076" y="10141684"/>
            <a:ext cx="232404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610117" y="9205456"/>
            <a:ext cx="27072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7610117" y="10141684"/>
            <a:ext cx="270728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986386" y="10150574"/>
            <a:ext cx="52996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9986386" y="11086802"/>
            <a:ext cx="52996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286076" y="10150574"/>
            <a:ext cx="232404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286076" y="11086802"/>
            <a:ext cx="232404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610117" y="10150574"/>
            <a:ext cx="27072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610117" y="11086802"/>
            <a:ext cx="270728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2120542" y="23958827"/>
            <a:ext cx="4278174" cy="706478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120542" y="24656415"/>
            <a:ext cx="427817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398716" y="23958827"/>
            <a:ext cx="4677390" cy="706478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398716" y="24656415"/>
            <a:ext cx="46773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1076106" y="23958827"/>
            <a:ext cx="4076621" cy="706478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076106" y="24656415"/>
            <a:ext cx="407662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120542" y="24665305"/>
            <a:ext cx="42781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120542" y="25601533"/>
            <a:ext cx="427817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398716" y="24665305"/>
            <a:ext cx="46773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398716" y="25601533"/>
            <a:ext cx="46773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1076106" y="24665305"/>
            <a:ext cx="407662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1076106" y="25601533"/>
            <a:ext cx="407662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120542" y="25610423"/>
            <a:ext cx="42781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120542" y="26546651"/>
            <a:ext cx="427817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398716" y="25610423"/>
            <a:ext cx="46773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398716" y="26546651"/>
            <a:ext cx="46773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1076106" y="25610423"/>
            <a:ext cx="407662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1076106" y="26546651"/>
            <a:ext cx="407662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120542" y="26555541"/>
            <a:ext cx="42781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2120542" y="27491769"/>
            <a:ext cx="427817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398716" y="26555541"/>
            <a:ext cx="46773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398716" y="27491769"/>
            <a:ext cx="46773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1076106" y="26555541"/>
            <a:ext cx="407662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1076106" y="27491769"/>
            <a:ext cx="407662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t" wrap="none" anchorCtr="0">
            <a:noAutofit/>
          </a:bodyPr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15581" y="1525885"/>
            <a:ext cx="35304690" cy="140461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111111"/>
                </a:solidFill>
                <a:latin typeface="Trebuchet MS"/>
              </a:rPr>
              <a:t>DeepSeek-V4.1-Flash: Pushing the Limits of KV Cache Compression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15581" y="3019821"/>
            <a:ext cx="35304690" cy="86963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DeepSeek-AI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8861" y="5541942"/>
            <a:ext cx="10640943" cy="899667"/>
          </a:xfrm>
          <a:prstGeom prst="rect">
            <a:avLst/>
          </a:prstGeom>
          <a:noFill/>
        </p:spPr>
        <p:txBody>
          <a:bodyPr wrap="none" lIns="0" rIns="3911600" tIns="0" bIns="0" anchor="t" anchorCtr="0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Trebuchet MS"/>
              </a:rPr>
              <a:t>Problem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120542" y="5541942"/>
            <a:ext cx="13423150" cy="899667"/>
          </a:xfrm>
          <a:prstGeom prst="rect">
            <a:avLst/>
          </a:prstGeom>
          <a:noFill/>
        </p:spPr>
        <p:txBody>
          <a:bodyPr wrap="none" lIns="0" rIns="3911600" tIns="0" bIns="0" anchor="t" anchorCtr="0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Trebuchet MS"/>
              </a:rPr>
              <a:t>Method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986386" y="5541942"/>
            <a:ext cx="10640944" cy="899667"/>
          </a:xfrm>
          <a:prstGeom prst="rect">
            <a:avLst/>
          </a:prstGeom>
          <a:noFill/>
        </p:spPr>
        <p:txBody>
          <a:bodyPr wrap="none" lIns="0" rIns="3911600" tIns="0" bIns="0" anchor="t" anchorCtr="0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Trebuchet MS"/>
              </a:rPr>
              <a:t>Key Results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8861" y="6608742"/>
            <a:ext cx="10640943" cy="1703171"/>
          </a:xfrm>
          <a:prstGeom prst="rect">
            <a:avLst/>
          </a:prstGeom>
          <a:noFill/>
        </p:spPr>
        <p:txBody>
          <a:bodyPr wrap="none" lIns="365082" rIns="365082" tIns="62585" bIns="62585" anchor="t" anchorCtr="0">
            <a:no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Trebuchet MS"/>
              </a:rPr>
              <a:t>Long-context agents are increasingly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Trebuchet MS"/>
              </a:rPr>
              <a:t>input-heavy.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8861" y="8089761"/>
            <a:ext cx="10640943" cy="434818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Trebuchet MS"/>
              </a:rPr>
              <a:t>Expensive prefill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and large KV caches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strain accelerator memory, persistent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storage, and transfer bandwidth, limiting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economical deployment of million-token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contexts.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986386" y="11100137"/>
            <a:ext cx="10640944" cy="347854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Table 3 · Max reasoning effort. Scores 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percentages; DeepSWE uses mini-SWE,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and TB 2.1 uses DeepSeek Harness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Minimal.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053395" y="11139031"/>
            <a:ext cx="13423292" cy="353078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The first indexer still scans the full context. Up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353" b="1">
                <a:solidFill>
                  <a:srgbClr val="111111"/>
                </a:solidFill>
                <a:latin typeface="Trebuchet MS"/>
              </a:rPr>
              <a:t>2,048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blocks × 8 positions form a </a:t>
            </a:r>
            <a:r>
              <a:rPr sz="4106" b="1">
                <a:solidFill>
                  <a:srgbClr val="111111"/>
                </a:solidFill>
                <a:latin typeface="Trebuchet MS"/>
              </a:rPr>
              <a:t>16,384-position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candidate pool. Training and inference use the same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restriction.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8861" y="12978844"/>
            <a:ext cx="10640943" cy="899667"/>
          </a:xfrm>
          <a:prstGeom prst="rect">
            <a:avLst/>
          </a:prstGeom>
          <a:noFill/>
        </p:spPr>
        <p:txBody>
          <a:bodyPr wrap="none" lIns="0" rIns="3911600" tIns="0" bIns="0" anchor="t" anchorCtr="0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Trebuchet MS"/>
              </a:rPr>
              <a:t>Motivation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986386" y="15233015"/>
            <a:ext cx="10640944" cy="89966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Trebuchet MS"/>
              </a:rPr>
              <a:t>Headline Numbers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120542" y="15966440"/>
            <a:ext cx="13423150" cy="260890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Project decoder global KV from the </a:t>
            </a:r>
            <a:r>
              <a:rPr sz="4106" b="1">
                <a:solidFill>
                  <a:srgbClr val="111111"/>
                </a:solidFill>
                <a:latin typeface="Trebuchet MS"/>
              </a:rPr>
              <a:t>final encoder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Trebuchet MS"/>
              </a:rPr>
              <a:t>states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, enabling most long-prompt prefill to stop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halfway through the network.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8861" y="16718061"/>
            <a:ext cx="10640943" cy="260890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Treat </a:t>
            </a:r>
            <a:r>
              <a:rPr sz="4106" b="1">
                <a:solidFill>
                  <a:srgbClr val="111111"/>
                </a:solidFill>
                <a:latin typeface="Trebuchet MS"/>
              </a:rPr>
              <a:t>global KV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and </a:t>
            </a:r>
            <a:r>
              <a:rPr sz="4106" b="1">
                <a:solidFill>
                  <a:srgbClr val="111111"/>
                </a:solidFill>
                <a:latin typeface="Trebuchet MS"/>
              </a:rPr>
              <a:t>sliding-window state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differently: share and quantize the former;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reconstruct the latter when needed.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053395" y="17636370"/>
            <a:ext cx="13423292" cy="26611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Store main KV at </a:t>
            </a:r>
            <a:r>
              <a:rPr sz="4106" b="1">
                <a:solidFill>
                  <a:srgbClr val="111111"/>
                </a:solidFill>
                <a:latin typeface="Trebuchet MS"/>
              </a:rPr>
              <a:t>four-bit precision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. Reconstruct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sliding-window attention from a short replay of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most recent </a:t>
            </a:r>
            <a:r>
              <a:rPr sz="4353" b="1">
                <a:solidFill>
                  <a:srgbClr val="111111"/>
                </a:solidFill>
                <a:latin typeface="Trebuchet MS"/>
              </a:rPr>
              <a:t>128 tokens.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8861" y="19247405"/>
            <a:ext cx="10640943" cy="34785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Co-designing architecture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deployment reduces both serving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prefix-cache costs for repeated, million-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token inputs.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039726" y="20370879"/>
            <a:ext cx="10586004" cy="899667"/>
          </a:xfrm>
          <a:prstGeom prst="rect">
            <a:avLst/>
          </a:prstGeom>
          <a:noFill/>
        </p:spPr>
        <p:txBody>
          <a:bodyPr wrap="none" lIns="0" rIns="3911600" tIns="0" bIns="0" anchor="t" anchorCtr="0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Trebuchet MS"/>
              </a:rPr>
              <a:t>Takeaway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053395" y="20536455"/>
            <a:ext cx="13423292" cy="34785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Trebuchet MS"/>
              </a:rPr>
              <a:t>FP4 E2M1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stores main KV with one E4M3 scale per 16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channels. Quantization follows RoPE; values 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dequantized before attention. Quantization-aware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training is introduced during post-training.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427053" y="21077217"/>
            <a:ext cx="4551594" cy="357822"/>
          </a:xfrm>
          <a:prstGeom prst="rect">
            <a:avLst/>
          </a:prstGeom>
          <a:noFill/>
        </p:spPr>
        <p:txBody>
          <a:bodyPr wrap="none" lIns="394289" rIns="394289" tIns="67592" bIns="67592" anchor="t" anchorCtr="0">
            <a:no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LiberationSerif"/>
              </a:rPr>
              <a:t>C: KV entries · Z: compression weights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039726" y="21949687"/>
            <a:ext cx="10586004" cy="1139441"/>
          </a:xfrm>
          <a:prstGeom prst="rect">
            <a:avLst/>
          </a:prstGeom>
          <a:noFill/>
        </p:spPr>
        <p:txBody>
          <a:bodyPr wrap="none" lIns="365082" rIns="365082" tIns="156464" bIns="156464" anchor="t" anchorCtr="0">
            <a:no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Trebuchet MS"/>
              </a:rPr>
              <a:t>Smaller caches, stronger agents.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039726" y="23452514"/>
            <a:ext cx="10586004" cy="260890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Joint model and serving design makes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million-token agents more efficient while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improving reported agent performance.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053395" y="24147323"/>
            <a:ext cx="13423292" cy="173927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Trebuchet MS"/>
              </a:rPr>
              <a:t>SWA KV stays FP8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because local attention is more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sensitive to quantization.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053395" y="26245780"/>
            <a:ext cx="13423292" cy="347854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Persist global KV and omit SWA KV from persistent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storage. Replay is approximate and depends on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cache-hit position; the authors report negligible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response-quality degradation.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039726" y="26493866"/>
            <a:ext cx="10586004" cy="34785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Benchmark gains depend on reasoning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effort and scaffold. The memory ratios do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not measure an end-to-end serving-cost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reduction.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88861" y="26898639"/>
            <a:ext cx="10640943" cy="260890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Exact local replay may span layers ×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window size. Smaller effective receptive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fields make </a:t>
            </a:r>
            <a:r>
              <a:rPr sz="4106" b="1">
                <a:solidFill>
                  <a:srgbClr val="111111"/>
                </a:solidFill>
                <a:latin typeface="Trebuchet MS"/>
              </a:rPr>
              <a:t>bounded replay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practical.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120542" y="28114069"/>
            <a:ext cx="13423150" cy="173927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Trebuchet MS"/>
              </a:rPr>
              <a:t>Layer-specific:</a:t>
            </a:r>
            <a:r>
              <a:rPr sz="4106" b="0">
                <a:solidFill>
                  <a:srgbClr val="1C1C1C"/>
                </a:solidFill>
                <a:latin typeface="Trebuchet MS"/>
              </a:rPr>
              <a:t> every mode computes its own query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and local sliding-window KV.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466432" y="3901182"/>
            <a:ext cx="901934" cy="42523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C1C1C"/>
                </a:solidFill>
                <a:latin typeface="Trebuchet MS"/>
              </a:rPr>
              <a:t>Paper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800474" y="3901182"/>
            <a:ext cx="781610" cy="42523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C1C1C"/>
                </a:solidFill>
                <a:latin typeface="Trebuchet MS"/>
              </a:rPr>
              <a:t>Code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929337" y="5555555"/>
            <a:ext cx="4832878" cy="72411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4B2E83"/>
                </a:solidFill>
                <a:latin typeface="Trebuchet MS"/>
              </a:rPr>
              <a:t>Bound the search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445652" y="5675292"/>
            <a:ext cx="1689267" cy="44887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Trebuchet MS"/>
              </a:rPr>
              <a:t>INDEXING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015537" y="6390520"/>
            <a:ext cx="12432286" cy="18603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The first decoder Full layer scores the global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context and ranks blocks.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015537" y="8321040"/>
            <a:ext cx="12432286" cy="10205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Collect a shared candidate pool for later indexers.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015537" y="9521328"/>
            <a:ext cx="12432286" cy="18603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Reindex layers select fresh Top-512 entries within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this pool.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190384" y="13720464"/>
            <a:ext cx="9159132" cy="63928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Trebuchet MS"/>
              </a:rPr>
              <a:t>Architecture: 20 encoder + 20 decoder layers.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378366" y="15049242"/>
            <a:ext cx="9760755" cy="173927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Share global context. Rebuild local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state.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996485" y="15131474"/>
            <a:ext cx="6790551" cy="72411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4B2E83"/>
                </a:solidFill>
                <a:latin typeface="Trebuchet MS"/>
              </a:rPr>
              <a:t>Causal encoder–decoder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3782833" y="15251211"/>
            <a:ext cx="1410990" cy="44887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Trebuchet MS"/>
              </a:rPr>
              <a:t>PREFILL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6929337" y="15330943"/>
            <a:ext cx="6710430" cy="72411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4B2E83"/>
                </a:solidFill>
                <a:latin typeface="Trebuchet MS"/>
              </a:rPr>
              <a:t>Store less, replay locally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960994" y="15450681"/>
            <a:ext cx="1158465" cy="44887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Trebuchet MS"/>
              </a:rPr>
              <a:t>CACHE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996485" y="22514897"/>
            <a:ext cx="5735385" cy="72411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4B2E83"/>
                </a:solidFill>
                <a:latin typeface="Trebuchet MS"/>
              </a:rPr>
              <a:t>Share KV and indices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74484" y="22532955"/>
            <a:ext cx="370416" cy="869635"/>
          </a:xfrm>
          <a:prstGeom prst="rect">
            <a:avLst/>
          </a:prstGeom>
          <a:noFill/>
        </p:spPr>
        <p:txBody>
          <a:bodyPr wrap="none" lIns="26077" rIns="26077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4B2E83"/>
                </a:solidFill>
                <a:latin typeface="Trebuchet MS"/>
              </a:rPr>
              <a:t>+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310677" y="22634634"/>
            <a:ext cx="867311" cy="44887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Trebuchet MS"/>
              </a:rPr>
              <a:t>CSA2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232250" y="16522065"/>
            <a:ext cx="5084543" cy="155397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Trebuchet MS"/>
              </a:rPr>
              <a:t>890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232250" y="17896959"/>
            <a:ext cx="5084543" cy="119934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Trebuchet MS"/>
              </a:rPr>
              <a:t>bytes / token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Trebuchet MS"/>
              </a:rPr>
              <a:t>global KV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232250" y="18939867"/>
            <a:ext cx="5084543" cy="47028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Trebuchet MS"/>
              </a:rPr>
              <a:t>About ¼ of V4-Flash global KV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32363" y="22750343"/>
            <a:ext cx="4499373" cy="65222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Trebuchet MS"/>
              </a:rPr>
              <a:t>GLOBAL CONTEXT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607909" y="22750343"/>
            <a:ext cx="4499515" cy="65222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Trebuchet MS"/>
              </a:rPr>
              <a:t>LOCAL STATE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32363" y="23395701"/>
            <a:ext cx="4499373" cy="34785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Long-lived KV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dominates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memory as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prompt grows.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07909" y="23395701"/>
            <a:ext cx="4499515" cy="34785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Recent tokens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can recover short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attention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Trebuchet MS"/>
              </a:rPr>
              <a:t>windows.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9986386" y="6608742"/>
            <a:ext cx="5458680" cy="812448"/>
          </a:xfrm>
          <a:prstGeom prst="rect">
            <a:avLst/>
          </a:prstGeom>
          <a:noFill/>
        </p:spPr>
        <p:txBody>
          <a:bodyPr wrap="none" lIns="185800" rIns="185800" tIns="81752" bIns="81752" anchor="t" anchorCtr="0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Trebuchet MS"/>
              </a:rPr>
              <a:t>BENCHMARK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5286076" y="6608742"/>
            <a:ext cx="2393762" cy="812448"/>
          </a:xfrm>
          <a:prstGeom prst="rect">
            <a:avLst/>
          </a:prstGeom>
          <a:noFill/>
        </p:spPr>
        <p:txBody>
          <a:bodyPr wrap="none" lIns="185800" rIns="185800" tIns="81752" bIns="81752" anchor="t" anchorCtr="0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Trebuchet MS"/>
              </a:rPr>
              <a:t>V4-FLASH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10117" y="6608742"/>
            <a:ext cx="2788501" cy="812448"/>
          </a:xfrm>
          <a:prstGeom prst="rect">
            <a:avLst/>
          </a:prstGeom>
          <a:noFill/>
        </p:spPr>
        <p:txBody>
          <a:bodyPr wrap="none" lIns="185800" rIns="185800" tIns="81752" bIns="81752" anchor="t" anchorCtr="0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Trebuchet MS"/>
              </a:rPr>
              <a:t>V4.1-FLASH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9986386" y="7315219"/>
            <a:ext cx="5458680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DeepSWE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286076" y="7315219"/>
            <a:ext cx="2393762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54.4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610117" y="7315219"/>
            <a:ext cx="2788501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11111"/>
                </a:solidFill>
                <a:latin typeface="Trebuchet MS"/>
              </a:rPr>
              <a:t>74.2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9986386" y="8260337"/>
            <a:ext cx="5458680" cy="1086886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TB 2.1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286076" y="8260337"/>
            <a:ext cx="2393762" cy="1086886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82.7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610117" y="8260337"/>
            <a:ext cx="2788501" cy="1086886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11111"/>
                </a:solidFill>
                <a:latin typeface="Trebuchet MS"/>
              </a:rPr>
              <a:t>90.6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9986386" y="9205456"/>
            <a:ext cx="5458680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Automation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286076" y="9205456"/>
            <a:ext cx="2393762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37.7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7610117" y="9205456"/>
            <a:ext cx="2788501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11111"/>
                </a:solidFill>
                <a:latin typeface="Trebuchet MS"/>
              </a:rPr>
              <a:t>54.8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9986386" y="10150574"/>
            <a:ext cx="5458680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Trebuchet MS"/>
              </a:rPr>
              <a:t>Agents’ Last Exam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286076" y="10150574"/>
            <a:ext cx="2393762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Trebuchet MS"/>
              </a:rPr>
              <a:t>25.2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7610117" y="10150574"/>
            <a:ext cx="2788501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11111"/>
                </a:solidFill>
                <a:latin typeface="Trebuchet MS"/>
              </a:rPr>
              <a:t>31.8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220637" y="16522065"/>
            <a:ext cx="881762" cy="62698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Trebuchet MS"/>
              </a:rPr>
              <a:t>4×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259240" y="16664305"/>
            <a:ext cx="2896663" cy="98145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Trebuchet MS"/>
              </a:rPr>
              <a:t>smaller global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Trebuchet MS"/>
              </a:rPr>
              <a:t>KV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6220637" y="18065730"/>
            <a:ext cx="881762" cy="62698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Trebuchet MS"/>
              </a:rPr>
              <a:t>8×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7259240" y="18207970"/>
            <a:ext cx="2896663" cy="98145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Trebuchet MS"/>
              </a:rPr>
              <a:t>smaller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Trebuchet MS"/>
              </a:rPr>
              <a:t>persistent KV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120542" y="23958827"/>
            <a:ext cx="4406519" cy="812449"/>
          </a:xfrm>
          <a:prstGeom prst="rect">
            <a:avLst/>
          </a:prstGeom>
          <a:noFill/>
        </p:spPr>
        <p:txBody>
          <a:bodyPr wrap="none" lIns="185800" rIns="185800" tIns="81752" bIns="81752" anchor="t" anchorCtr="0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Trebuchet MS"/>
              </a:rPr>
              <a:t>MODE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6398716" y="23958827"/>
            <a:ext cx="4817711" cy="812449"/>
          </a:xfrm>
          <a:prstGeom prst="rect">
            <a:avLst/>
          </a:prstGeom>
          <a:noFill/>
        </p:spPr>
        <p:txBody>
          <a:bodyPr wrap="none" lIns="185800" rIns="185800" tIns="81752" bIns="81752" anchor="t" anchorCtr="0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Trebuchet MS"/>
              </a:rPr>
              <a:t>GLOBAL KV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1076106" y="23958827"/>
            <a:ext cx="4198919" cy="812449"/>
          </a:xfrm>
          <a:prstGeom prst="rect">
            <a:avLst/>
          </a:prstGeom>
          <a:noFill/>
        </p:spPr>
        <p:txBody>
          <a:bodyPr wrap="none" lIns="185800" rIns="185800" tIns="81752" bIns="81752" anchor="t" anchorCtr="0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Trebuchet MS"/>
              </a:rPr>
              <a:t>TOP-K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2120542" y="24665305"/>
            <a:ext cx="4406519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Full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6398716" y="24665305"/>
            <a:ext cx="4817711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New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1076106" y="24665305"/>
            <a:ext cx="4198919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New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2120542" y="25610423"/>
            <a:ext cx="4406519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Reindex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6398716" y="25610423"/>
            <a:ext cx="4817711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Shared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1076106" y="25610423"/>
            <a:ext cx="4198919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Trebuchet MS"/>
              </a:rPr>
              <a:t>New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120542" y="26555541"/>
            <a:ext cx="4406519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Trebuchet MS"/>
              </a:rPr>
              <a:t>Reuse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6398716" y="26555541"/>
            <a:ext cx="4817711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Trebuchet MS"/>
              </a:rPr>
              <a:t>Shared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1076106" y="26555541"/>
            <a:ext cx="4198919" cy="1086885"/>
          </a:xfrm>
          <a:prstGeom prst="rect">
            <a:avLst/>
          </a:prstGeom>
          <a:noFill/>
        </p:spPr>
        <p:txBody>
          <a:bodyPr wrap="none" lIns="247734" rIns="247734" tIns="109002" bIns="109002" anchor="t" anchorCtr="0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Trebuchet MS"/>
              </a:rPr>
              <a:t>Shared</a:t>
            </a:r>
          </a:p>
        </p:txBody>
      </p:sp>
      <p:pic>
        <p:nvPicPr>
          <p:cNvPr id="188" name="Picture 187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3648" y="18910002"/>
            <a:ext cx="12225973" cy="864275"/>
          </a:xfrm>
          <a:prstGeom prst="rect">
            <a:avLst/>
          </a:prstGeom>
        </p:spPr>
      </p:pic>
      <p:pic>
        <p:nvPicPr>
          <p:cNvPr id="189" name="Picture 188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3648" y="19971385"/>
            <a:ext cx="12225973" cy="864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